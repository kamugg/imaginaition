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14211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B864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B864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B864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B864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429958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B864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588491"/>
            <a:ext cx="4356735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35159" y="3351784"/>
            <a:ext cx="581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7218" y="3351784"/>
            <a:ext cx="144208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73882" y="3351784"/>
            <a:ext cx="27970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9502D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7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slide" Target="slide5.xml"/><Relationship Id="rId15" Type="http://schemas.openxmlformats.org/officeDocument/2006/relationships/slide" Target="slide6.xml"/><Relationship Id="rId16" Type="http://schemas.openxmlformats.org/officeDocument/2006/relationships/slide" Target="slide10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8.xml"/><Relationship Id="rId20" Type="http://schemas.openxmlformats.org/officeDocument/2006/relationships/slide" Target="slide19.xml"/><Relationship Id="rId21" Type="http://schemas.openxmlformats.org/officeDocument/2006/relationships/slide" Target="slide22.xml"/><Relationship Id="rId22" Type="http://schemas.openxmlformats.org/officeDocument/2006/relationships/slide" Target="slide31.xml"/><Relationship Id="rId23" Type="http://schemas.openxmlformats.org/officeDocument/2006/relationships/slide" Target="slide34.xml"/><Relationship Id="rId24" Type="http://schemas.openxmlformats.org/officeDocument/2006/relationships/slide" Target="slide37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slide" Target="slide5.xml"/><Relationship Id="rId15" Type="http://schemas.openxmlformats.org/officeDocument/2006/relationships/slide" Target="slide6.xml"/><Relationship Id="rId16" Type="http://schemas.openxmlformats.org/officeDocument/2006/relationships/slide" Target="slide10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8.xml"/><Relationship Id="rId20" Type="http://schemas.openxmlformats.org/officeDocument/2006/relationships/slide" Target="slide19.xml"/><Relationship Id="rId21" Type="http://schemas.openxmlformats.org/officeDocument/2006/relationships/slide" Target="slide22.xml"/><Relationship Id="rId22" Type="http://schemas.openxmlformats.org/officeDocument/2006/relationships/slide" Target="slide31.xml"/><Relationship Id="rId23" Type="http://schemas.openxmlformats.org/officeDocument/2006/relationships/slide" Target="slide34.xml"/><Relationship Id="rId24" Type="http://schemas.openxmlformats.org/officeDocument/2006/relationships/slide" Target="slide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slide" Target="slide3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slide" Target="slide5.xml"/><Relationship Id="rId15" Type="http://schemas.openxmlformats.org/officeDocument/2006/relationships/slide" Target="slide6.xml"/><Relationship Id="rId16" Type="http://schemas.openxmlformats.org/officeDocument/2006/relationships/slide" Target="slide10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8.xml"/><Relationship Id="rId20" Type="http://schemas.openxmlformats.org/officeDocument/2006/relationships/slide" Target="slide19.xml"/><Relationship Id="rId21" Type="http://schemas.openxmlformats.org/officeDocument/2006/relationships/slide" Target="slide22.xml"/><Relationship Id="rId22" Type="http://schemas.openxmlformats.org/officeDocument/2006/relationships/slide" Target="slide31.xml"/><Relationship Id="rId23" Type="http://schemas.openxmlformats.org/officeDocument/2006/relationships/slide" Target="slide34.xml"/><Relationship Id="rId24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slide" Target="slide3.xml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slide" Target="slide5.xml"/><Relationship Id="rId15" Type="http://schemas.openxmlformats.org/officeDocument/2006/relationships/slide" Target="slide6.xml"/><Relationship Id="rId16" Type="http://schemas.openxmlformats.org/officeDocument/2006/relationships/slide" Target="slide10.xml"/><Relationship Id="rId17" Type="http://schemas.openxmlformats.org/officeDocument/2006/relationships/slide" Target="slide13.xml"/><Relationship Id="rId18" Type="http://schemas.openxmlformats.org/officeDocument/2006/relationships/slide" Target="slide14.xml"/><Relationship Id="rId19" Type="http://schemas.openxmlformats.org/officeDocument/2006/relationships/slide" Target="slide18.xml"/><Relationship Id="rId20" Type="http://schemas.openxmlformats.org/officeDocument/2006/relationships/slide" Target="slide19.xml"/><Relationship Id="rId21" Type="http://schemas.openxmlformats.org/officeDocument/2006/relationships/slide" Target="slide22.xml"/><Relationship Id="rId22" Type="http://schemas.openxmlformats.org/officeDocument/2006/relationships/slide" Target="slide31.xml"/><Relationship Id="rId23" Type="http://schemas.openxmlformats.org/officeDocument/2006/relationships/slide" Target="slide34.xml"/><Relationship Id="rId24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Relationship Id="rId3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g"/><Relationship Id="rId3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pdf/1606.00915" TargetMode="External"/><Relationship Id="rId3" Type="http://schemas.openxmlformats.org/officeDocument/2006/relationships/image" Target="../media/image52.jpg"/><Relationship Id="rId4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ytorch.org/hub/pytorch_vision_deeplabv3_resnet101/" TargetMode="External"/><Relationship Id="rId3" Type="http://schemas.openxmlformats.org/officeDocument/2006/relationships/hyperlink" Target="http://host.robots.ox.ac.uk/pascal/VOC/" TargetMode="External"/><Relationship Id="rId4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openai.com/index/clip/" TargetMode="External"/><Relationship Id="rId3" Type="http://schemas.openxmlformats.org/officeDocument/2006/relationships/slide" Target="slide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slide" Target="slide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Relationship Id="rId3" Type="http://schemas.openxmlformats.org/officeDocument/2006/relationships/slide" Target="slide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" Target="slide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slide" Target="slide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Relationship Id="rId3" Type="http://schemas.openxmlformats.org/officeDocument/2006/relationships/hyperlink" Target="https://faiss.ai/" TargetMode="External"/><Relationship Id="rId4" Type="http://schemas.openxmlformats.org/officeDocument/2006/relationships/slide" Target="slide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slide" Target="slide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2.png"/><Relationship Id="rId4" Type="http://schemas.openxmlformats.org/officeDocument/2006/relationships/slide" Target="slide1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slide" Target="slide1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slide" Target="slide1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342925"/>
            <a:ext cx="4483735" cy="529590"/>
            <a:chOff x="87743" y="342925"/>
            <a:chExt cx="4483735" cy="529590"/>
          </a:xfrm>
        </p:grpSpPr>
        <p:sp>
          <p:nvSpPr>
            <p:cNvPr id="3" name="object 3" descr=""/>
            <p:cNvSpPr/>
            <p:nvPr/>
          </p:nvSpPr>
          <p:spPr>
            <a:xfrm>
              <a:off x="87743" y="34292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406181"/>
              <a:ext cx="4432935" cy="466090"/>
            </a:xfrm>
            <a:custGeom>
              <a:avLst/>
              <a:gdLst/>
              <a:ahLst/>
              <a:cxnLst/>
              <a:rect l="l" t="t" r="r" b="b"/>
              <a:pathLst>
                <a:path w="4432935" h="466090">
                  <a:moveTo>
                    <a:pt x="4432566" y="0"/>
                  </a:moveTo>
                  <a:lnTo>
                    <a:pt x="0" y="0"/>
                  </a:lnTo>
                  <a:lnTo>
                    <a:pt x="0" y="466093"/>
                  </a:lnTo>
                  <a:lnTo>
                    <a:pt x="4432566" y="46609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387344"/>
              <a:ext cx="4432935" cy="434340"/>
            </a:xfrm>
            <a:custGeom>
              <a:avLst/>
              <a:gdLst/>
              <a:ahLst/>
              <a:cxnLst/>
              <a:rect l="l" t="t" r="r" b="b"/>
              <a:pathLst>
                <a:path w="4432935" h="434340">
                  <a:moveTo>
                    <a:pt x="4432566" y="0"/>
                  </a:moveTo>
                  <a:lnTo>
                    <a:pt x="0" y="0"/>
                  </a:lnTo>
                  <a:lnTo>
                    <a:pt x="0" y="383329"/>
                  </a:lnTo>
                  <a:lnTo>
                    <a:pt x="4008" y="403054"/>
                  </a:lnTo>
                  <a:lnTo>
                    <a:pt x="14922" y="419207"/>
                  </a:lnTo>
                  <a:lnTo>
                    <a:pt x="31075" y="430121"/>
                  </a:lnTo>
                  <a:lnTo>
                    <a:pt x="50800" y="434129"/>
                  </a:lnTo>
                  <a:lnTo>
                    <a:pt x="4381765" y="434129"/>
                  </a:lnTo>
                  <a:lnTo>
                    <a:pt x="4401490" y="430121"/>
                  </a:lnTo>
                  <a:lnTo>
                    <a:pt x="4417643" y="419207"/>
                  </a:lnTo>
                  <a:lnTo>
                    <a:pt x="4428558" y="403054"/>
                  </a:lnTo>
                  <a:lnTo>
                    <a:pt x="4432566" y="38332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544" y="406181"/>
            <a:ext cx="4432935" cy="466090"/>
          </a:xfrm>
          <a:prstGeom prst="rect"/>
        </p:spPr>
        <p:txBody>
          <a:bodyPr wrap="square" lIns="0" tIns="5651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45"/>
              </a:spcBef>
            </a:pPr>
            <a:r>
              <a:rPr dirty="0" spc="-10"/>
              <a:t>ImaginAItion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797342" y="1031556"/>
            <a:ext cx="10134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Arial MT"/>
                <a:cs typeface="Arial MT"/>
              </a:rPr>
              <a:t>Eugenio</a:t>
            </a:r>
            <a:r>
              <a:rPr dirty="0" sz="1100" spc="-20">
                <a:latin typeface="Arial MT"/>
                <a:cs typeface="Arial MT"/>
              </a:rPr>
              <a:t> 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Luca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723" y="1424863"/>
            <a:ext cx="1040384" cy="104038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86167" y="2471520"/>
            <a:ext cx="2435860" cy="485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 MT"/>
                <a:cs typeface="Arial MT"/>
              </a:rPr>
              <a:t>Multimedia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Data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Management,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University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Bologna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 spc="-25">
                <a:latin typeface="Arial MT"/>
                <a:cs typeface="Arial MT"/>
              </a:rPr>
              <a:t>August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23,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1403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610741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9F2EC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583309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970242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194041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366113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1538198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1710270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2017382"/>
            <a:ext cx="160096" cy="16009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9582" y="2241181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582" y="2413254"/>
            <a:ext cx="65265" cy="6526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9582" y="2585326"/>
            <a:ext cx="65265" cy="6526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757411"/>
            <a:ext cx="65265" cy="6526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29743" y="942148"/>
            <a:ext cx="1906905" cy="1927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E9F2EC"/>
              </a:buClr>
              <a:buSzPct val="72727"/>
              <a:buAutoNum type="arabicPlain" startAt="2"/>
              <a:tabLst>
                <a:tab pos="179070" algn="l"/>
              </a:tabLst>
            </a:pPr>
            <a:r>
              <a:rPr dirty="0" sz="1100" spc="-20">
                <a:latin typeface="Arial MT"/>
                <a:cs typeface="Arial MT"/>
                <a:hlinkClick r:id="rId14" action="ppaction://hlinksldjump"/>
              </a:rPr>
              <a:t>App’s</a:t>
            </a:r>
            <a:r>
              <a:rPr dirty="0" sz="1100" spc="-40"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14" action="ppaction://hlinksldjump"/>
              </a:rPr>
              <a:t>structure</a:t>
            </a:r>
            <a:endParaRPr sz="1100">
              <a:latin typeface="Arial MT"/>
              <a:cs typeface="Arial MT"/>
            </a:endParaRPr>
          </a:p>
          <a:p>
            <a:pPr marL="316230" marR="550545">
              <a:lnSpc>
                <a:spcPct val="102600"/>
              </a:lnSpc>
            </a:pPr>
            <a:r>
              <a:rPr dirty="0" sz="1100">
                <a:latin typeface="Arial MT"/>
                <a:cs typeface="Arial MT"/>
                <a:hlinkClick r:id="rId15" action="ppaction://hlinksldjump"/>
              </a:rPr>
              <a:t>The</a:t>
            </a:r>
            <a:r>
              <a:rPr dirty="0" sz="1100" spc="-50"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25">
                <a:latin typeface="Arial MT"/>
                <a:cs typeface="Arial MT"/>
                <a:hlinkClick r:id="rId15" action="ppaction://hlinksldjump"/>
              </a:rPr>
              <a:t>main</a:t>
            </a:r>
            <a:r>
              <a:rPr dirty="0" sz="1100" spc="-45"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55">
                <a:latin typeface="Arial MT"/>
                <a:cs typeface="Arial MT"/>
                <a:hlinkClick r:id="rId15" action="ppaction://hlinksldjump"/>
              </a:rPr>
              <a:t>window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  <a:hlinkClick r:id="rId16" action="ppaction://hlinksldjump"/>
              </a:rPr>
              <a:t>The</a:t>
            </a:r>
            <a:r>
              <a:rPr dirty="0" sz="1100" spc="-60">
                <a:latin typeface="Arial MT"/>
                <a:cs typeface="Arial MT"/>
                <a:hlinkClick r:id="rId16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16" action="ppaction://hlinksldjump"/>
              </a:rPr>
              <a:t>settings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>
                <a:latin typeface="Arial MT"/>
                <a:cs typeface="Arial MT"/>
                <a:hlinkClick r:id="rId17" action="ppaction://hlinksldjump"/>
              </a:rPr>
              <a:t>The</a:t>
            </a:r>
            <a:r>
              <a:rPr dirty="0" sz="1100" spc="-25"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0">
                <a:latin typeface="Arial MT"/>
                <a:cs typeface="Arial MT"/>
                <a:hlinkClick r:id="rId17" action="ppaction://hlinksldjump"/>
              </a:rPr>
              <a:t>reset</a:t>
            </a:r>
            <a:r>
              <a:rPr dirty="0" sz="1100" spc="-15"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60">
                <a:latin typeface="Arial MT"/>
                <a:cs typeface="Arial MT"/>
                <a:hlinkClick r:id="rId17" action="ppaction://hlinksldjump"/>
              </a:rPr>
              <a:t>database</a:t>
            </a:r>
            <a:r>
              <a:rPr dirty="0" sz="1100" spc="-15"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5">
                <a:latin typeface="Arial MT"/>
                <a:cs typeface="Arial MT"/>
                <a:hlinkClick r:id="rId17" action="ppaction://hlinksldjump"/>
              </a:rPr>
              <a:t>window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  <a:hlinkClick r:id="rId18" action="ppaction://hlinksldjump"/>
              </a:rPr>
              <a:t>The</a:t>
            </a:r>
            <a:r>
              <a:rPr dirty="0" sz="1100" spc="-45"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40">
                <a:latin typeface="Arial MT"/>
                <a:cs typeface="Arial MT"/>
                <a:hlinkClick r:id="rId18" action="ppaction://hlinksldjump"/>
              </a:rPr>
              <a:t>query</a:t>
            </a:r>
            <a:r>
              <a:rPr dirty="0" sz="1100" spc="-35"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18" action="ppaction://hlinksldjump"/>
              </a:rPr>
              <a:t>viewer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 MT"/>
              <a:cs typeface="Arial MT"/>
            </a:endParaRPr>
          </a:p>
          <a:p>
            <a:pPr marL="179070" indent="-166370">
              <a:lnSpc>
                <a:spcPct val="100000"/>
              </a:lnSpc>
              <a:buClr>
                <a:srgbClr val="E9F2EC"/>
              </a:buClr>
              <a:buSzPct val="72727"/>
              <a:buAutoNum type="arabicPlain" startAt="3"/>
              <a:tabLst>
                <a:tab pos="179070" algn="l"/>
              </a:tabLst>
            </a:pPr>
            <a:r>
              <a:rPr dirty="0" sz="1100" spc="-10">
                <a:latin typeface="Arial MT"/>
                <a:cs typeface="Arial MT"/>
                <a:hlinkClick r:id="rId19" action="ppaction://hlinksldjump"/>
              </a:rPr>
              <a:t>Technicalities</a:t>
            </a:r>
            <a:endParaRPr sz="1100">
              <a:latin typeface="Arial MT"/>
              <a:cs typeface="Arial MT"/>
            </a:endParaRPr>
          </a:p>
          <a:p>
            <a:pPr marL="316230" marR="447040">
              <a:lnSpc>
                <a:spcPct val="102600"/>
              </a:lnSpc>
            </a:pPr>
            <a:r>
              <a:rPr dirty="0" sz="1100">
                <a:latin typeface="Arial MT"/>
                <a:cs typeface="Arial MT"/>
                <a:hlinkClick r:id="rId20" action="ppaction://hlinksldjump"/>
              </a:rPr>
              <a:t>The</a:t>
            </a:r>
            <a:r>
              <a:rPr dirty="0" sz="1100" spc="-25"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50">
                <a:latin typeface="Arial MT"/>
                <a:cs typeface="Arial MT"/>
                <a:hlinkClick r:id="rId20" action="ppaction://hlinksldjump"/>
              </a:rPr>
              <a:t>app’s</a:t>
            </a:r>
            <a:r>
              <a:rPr dirty="0" sz="1100" spc="-20"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30">
                <a:latin typeface="Arial MT"/>
                <a:cs typeface="Arial MT"/>
                <a:hlinkClick r:id="rId20" action="ppaction://hlinksldjump"/>
              </a:rPr>
              <a:t>structure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  <a:hlinkClick r:id="rId21" action="ppaction://hlinksldjump"/>
              </a:rPr>
              <a:t>The</a:t>
            </a:r>
            <a:r>
              <a:rPr dirty="0" sz="1100" spc="-50">
                <a:latin typeface="Arial MT"/>
                <a:cs typeface="Arial MT"/>
                <a:hlinkClick r:id="rId21" action="ppaction://hlinksldjump"/>
              </a:rPr>
              <a:t> </a:t>
            </a:r>
            <a:r>
              <a:rPr dirty="0" sz="1100" spc="-55">
                <a:latin typeface="Arial MT"/>
                <a:cs typeface="Arial MT"/>
                <a:hlinkClick r:id="rId21" action="ppaction://hlinksldjump"/>
              </a:rPr>
              <a:t>models</a:t>
            </a:r>
            <a:r>
              <a:rPr dirty="0" sz="1100" spc="-20">
                <a:latin typeface="Arial MT"/>
                <a:cs typeface="Arial MT"/>
                <a:hlinkClick r:id="rId21" action="ppaction://hlinksldjump"/>
              </a:rPr>
              <a:t> used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  <a:hlinkClick r:id="rId22" action="ppaction://hlinksldjump"/>
              </a:rPr>
              <a:t>FAISS</a:t>
            </a:r>
            <a:r>
              <a:rPr dirty="0" sz="1100" spc="20">
                <a:latin typeface="Arial MT"/>
                <a:cs typeface="Arial MT"/>
                <a:hlinkClick r:id="rId22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22" action="ppaction://hlinksldjump"/>
              </a:rPr>
              <a:t>indexes</a:t>
            </a:r>
            <a:endParaRPr sz="1100">
              <a:latin typeface="Arial MT"/>
              <a:cs typeface="Arial MT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Arial MT"/>
                <a:cs typeface="Arial MT"/>
                <a:hlinkClick r:id="rId23" action="ppaction://hlinksldjump"/>
              </a:rPr>
              <a:t>The</a:t>
            </a:r>
            <a:r>
              <a:rPr dirty="0" sz="1100" spc="-60">
                <a:latin typeface="Arial MT"/>
                <a:cs typeface="Arial MT"/>
                <a:hlinkClick r:id="rId23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23" action="ppaction://hlinksldjump"/>
              </a:rPr>
              <a:t>Database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Table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25"/>
              <a:t>Contents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1403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610741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9F2EC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583309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970242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194041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366113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1538198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1710270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2017382"/>
            <a:ext cx="160096" cy="16009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9582" y="2241181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582" y="2413254"/>
            <a:ext cx="65265" cy="6526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9582" y="2585326"/>
            <a:ext cx="65265" cy="6526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757411"/>
            <a:ext cx="65265" cy="6526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29743" y="942148"/>
            <a:ext cx="1906905" cy="1927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CFB"/>
              </a:buClr>
              <a:buSzPct val="72727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4" action="ppaction://hlinksldjump"/>
              </a:rPr>
              <a:t>App’s</a:t>
            </a:r>
            <a:r>
              <a:rPr dirty="0" sz="1100" spc="-40">
                <a:solidFill>
                  <a:srgbClr val="CCCCCC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4" action="ppaction://hlinksldjump"/>
              </a:rPr>
              <a:t>structure</a:t>
            </a:r>
            <a:endParaRPr sz="1100">
              <a:latin typeface="Arial MT"/>
              <a:cs typeface="Arial MT"/>
            </a:endParaRPr>
          </a:p>
          <a:p>
            <a:pPr marL="316230" marR="550545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The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main</a:t>
            </a:r>
            <a:r>
              <a:rPr dirty="0" sz="1100" spc="-45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window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6" action="ppaction://hlinksldjump"/>
              </a:rPr>
              <a:t>The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16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6" action="ppaction://hlinksldjump"/>
              </a:rPr>
              <a:t>settings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The</a:t>
            </a:r>
            <a:r>
              <a:rPr dirty="0" sz="1100" spc="-2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reset</a:t>
            </a:r>
            <a:r>
              <a:rPr dirty="0" sz="1100" spc="-1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database</a:t>
            </a:r>
            <a:r>
              <a:rPr dirty="0" sz="1100" spc="-1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window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The</a:t>
            </a:r>
            <a:r>
              <a:rPr dirty="0" sz="1100" spc="-45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40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query</a:t>
            </a:r>
            <a:r>
              <a:rPr dirty="0" sz="1100" spc="-35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viewer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 MT"/>
              <a:cs typeface="Arial MT"/>
            </a:endParaRPr>
          </a:p>
          <a:p>
            <a:pPr marL="179070" indent="-166370">
              <a:lnSpc>
                <a:spcPct val="100000"/>
              </a:lnSpc>
              <a:buClr>
                <a:srgbClr val="FAFCFB"/>
              </a:buClr>
              <a:buSzPct val="72727"/>
              <a:buAutoNum type="arabicPlain" startAt="3"/>
              <a:tabLst>
                <a:tab pos="179070" algn="l"/>
              </a:tabLst>
            </a:pP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9" action="ppaction://hlinksldjump"/>
              </a:rPr>
              <a:t>Technicalities</a:t>
            </a:r>
            <a:endParaRPr sz="1100">
              <a:latin typeface="Arial MT"/>
              <a:cs typeface="Arial MT"/>
            </a:endParaRPr>
          </a:p>
          <a:p>
            <a:pPr marL="316230" marR="44704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The</a:t>
            </a:r>
            <a:r>
              <a:rPr dirty="0" sz="1100" spc="-25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app’s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structure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The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models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 used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80">
                <a:solidFill>
                  <a:srgbClr val="CCCCCC"/>
                </a:solidFill>
                <a:latin typeface="Arial MT"/>
                <a:cs typeface="Arial MT"/>
                <a:hlinkClick r:id="rId22" action="ppaction://hlinksldjump"/>
              </a:rPr>
              <a:t>FAISS</a:t>
            </a:r>
            <a:r>
              <a:rPr dirty="0" sz="1100" spc="20">
                <a:solidFill>
                  <a:srgbClr val="CCCCCC"/>
                </a:solidFill>
                <a:latin typeface="Arial MT"/>
                <a:cs typeface="Arial MT"/>
                <a:hlinkClick r:id="rId22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22" action="ppaction://hlinksldjump"/>
              </a:rPr>
              <a:t>indexes</a:t>
            </a:r>
            <a:endParaRPr sz="1100">
              <a:latin typeface="Arial MT"/>
              <a:cs typeface="Arial MT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23" action="ppaction://hlinksldjump"/>
              </a:rPr>
              <a:t>The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23" action="ppaction://hlinksldjump"/>
              </a:rPr>
              <a:t>Database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3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Introduction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56703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66735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76768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86800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5844" y="719072"/>
            <a:ext cx="4350385" cy="19304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25">
                <a:latin typeface="Arial MT"/>
                <a:cs typeface="Arial MT"/>
              </a:rPr>
              <a:t>ImaginAItion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app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developed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final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project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Multimedia </a:t>
            </a:r>
            <a:r>
              <a:rPr dirty="0" sz="1100">
                <a:latin typeface="Arial MT"/>
                <a:cs typeface="Arial MT"/>
              </a:rPr>
              <a:t>Data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Management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course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(MDM)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University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Bologna.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main </a:t>
            </a:r>
            <a:r>
              <a:rPr dirty="0" sz="1100" spc="-55">
                <a:latin typeface="Arial MT"/>
                <a:cs typeface="Arial MT"/>
              </a:rPr>
              <a:t>idea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was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having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multimedia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app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was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able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to: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 spc="-25">
                <a:latin typeface="Arial MT"/>
                <a:cs typeface="Arial MT"/>
              </a:rPr>
              <a:t>Accept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input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60">
                <a:latin typeface="Arial MT"/>
                <a:cs typeface="Arial MT"/>
              </a:rPr>
              <a:t>Segment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relevant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subjects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it</a:t>
            </a:r>
            <a:endParaRPr sz="1100">
              <a:latin typeface="Arial MT"/>
              <a:cs typeface="Arial MT"/>
            </a:endParaRPr>
          </a:p>
          <a:p>
            <a:pPr marL="289560" marR="1246505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Add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database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if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user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requests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it </a:t>
            </a:r>
            <a:r>
              <a:rPr dirty="0" sz="1100" spc="-35">
                <a:latin typeface="Arial MT"/>
                <a:cs typeface="Arial MT"/>
              </a:rPr>
              <a:t>Query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said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database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retrieve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”similar”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images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295"/>
              </a:spcBef>
            </a:pPr>
            <a:r>
              <a:rPr dirty="0" sz="1100" spc="-20">
                <a:latin typeface="Arial MT"/>
                <a:cs typeface="Arial MT"/>
              </a:rPr>
              <a:t>While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kind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software</a:t>
            </a:r>
            <a:r>
              <a:rPr dirty="0" sz="1100" spc="-10">
                <a:latin typeface="Arial MT"/>
                <a:cs typeface="Arial MT"/>
              </a:rPr>
              <a:t> 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new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there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plenty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similar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apps,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idea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behind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project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was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deep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features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achieve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similarity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search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segmentation.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3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Table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25"/>
              <a:t>Contents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1403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610741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CFB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583309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970242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194041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366113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1538198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1710270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2017382"/>
            <a:ext cx="160096" cy="16009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9582" y="2241181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582" y="2413254"/>
            <a:ext cx="65265" cy="6526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9582" y="2585326"/>
            <a:ext cx="65265" cy="6526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757411"/>
            <a:ext cx="65265" cy="6526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29743" y="942148"/>
            <a:ext cx="1906905" cy="1927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E9F2EC"/>
              </a:buClr>
              <a:buSzPct val="72727"/>
              <a:buAutoNum type="arabicPlain" startAt="2"/>
              <a:tabLst>
                <a:tab pos="179070" algn="l"/>
              </a:tabLst>
            </a:pPr>
            <a:r>
              <a:rPr dirty="0" sz="1100" spc="-20">
                <a:latin typeface="Arial MT"/>
                <a:cs typeface="Arial MT"/>
                <a:hlinkClick r:id="rId14" action="ppaction://hlinksldjump"/>
              </a:rPr>
              <a:t>App’s</a:t>
            </a:r>
            <a:r>
              <a:rPr dirty="0" sz="1100" spc="-40"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14" action="ppaction://hlinksldjump"/>
              </a:rPr>
              <a:t>structure</a:t>
            </a:r>
            <a:endParaRPr sz="1100">
              <a:latin typeface="Arial MT"/>
              <a:cs typeface="Arial MT"/>
            </a:endParaRPr>
          </a:p>
          <a:p>
            <a:pPr marL="316230" marR="550545">
              <a:lnSpc>
                <a:spcPct val="102600"/>
              </a:lnSpc>
            </a:pPr>
            <a:r>
              <a:rPr dirty="0" sz="1100">
                <a:latin typeface="Arial MT"/>
                <a:cs typeface="Arial MT"/>
                <a:hlinkClick r:id="rId15" action="ppaction://hlinksldjump"/>
              </a:rPr>
              <a:t>The</a:t>
            </a:r>
            <a:r>
              <a:rPr dirty="0" sz="1100" spc="-50"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25">
                <a:latin typeface="Arial MT"/>
                <a:cs typeface="Arial MT"/>
                <a:hlinkClick r:id="rId15" action="ppaction://hlinksldjump"/>
              </a:rPr>
              <a:t>main</a:t>
            </a:r>
            <a:r>
              <a:rPr dirty="0" sz="1100" spc="-45"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55">
                <a:latin typeface="Arial MT"/>
                <a:cs typeface="Arial MT"/>
                <a:hlinkClick r:id="rId15" action="ppaction://hlinksldjump"/>
              </a:rPr>
              <a:t>window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  <a:hlinkClick r:id="rId16" action="ppaction://hlinksldjump"/>
              </a:rPr>
              <a:t>The</a:t>
            </a:r>
            <a:r>
              <a:rPr dirty="0" sz="1100" spc="-60">
                <a:latin typeface="Arial MT"/>
                <a:cs typeface="Arial MT"/>
                <a:hlinkClick r:id="rId16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16" action="ppaction://hlinksldjump"/>
              </a:rPr>
              <a:t>settings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>
                <a:latin typeface="Arial MT"/>
                <a:cs typeface="Arial MT"/>
                <a:hlinkClick r:id="rId17" action="ppaction://hlinksldjump"/>
              </a:rPr>
              <a:t>The</a:t>
            </a:r>
            <a:r>
              <a:rPr dirty="0" sz="1100" spc="-25"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0">
                <a:latin typeface="Arial MT"/>
                <a:cs typeface="Arial MT"/>
                <a:hlinkClick r:id="rId17" action="ppaction://hlinksldjump"/>
              </a:rPr>
              <a:t>reset</a:t>
            </a:r>
            <a:r>
              <a:rPr dirty="0" sz="1100" spc="-15"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60">
                <a:latin typeface="Arial MT"/>
                <a:cs typeface="Arial MT"/>
                <a:hlinkClick r:id="rId17" action="ppaction://hlinksldjump"/>
              </a:rPr>
              <a:t>database</a:t>
            </a:r>
            <a:r>
              <a:rPr dirty="0" sz="1100" spc="-15"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5">
                <a:latin typeface="Arial MT"/>
                <a:cs typeface="Arial MT"/>
                <a:hlinkClick r:id="rId17" action="ppaction://hlinksldjump"/>
              </a:rPr>
              <a:t>window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  <a:hlinkClick r:id="rId18" action="ppaction://hlinksldjump"/>
              </a:rPr>
              <a:t>The</a:t>
            </a:r>
            <a:r>
              <a:rPr dirty="0" sz="1100" spc="-45"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40">
                <a:latin typeface="Arial MT"/>
                <a:cs typeface="Arial MT"/>
                <a:hlinkClick r:id="rId18" action="ppaction://hlinksldjump"/>
              </a:rPr>
              <a:t>query</a:t>
            </a:r>
            <a:r>
              <a:rPr dirty="0" sz="1100" spc="-35"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18" action="ppaction://hlinksldjump"/>
              </a:rPr>
              <a:t>viewer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 MT"/>
              <a:cs typeface="Arial MT"/>
            </a:endParaRPr>
          </a:p>
          <a:p>
            <a:pPr marL="179070" indent="-166370">
              <a:lnSpc>
                <a:spcPct val="100000"/>
              </a:lnSpc>
              <a:buClr>
                <a:srgbClr val="FAFCFB"/>
              </a:buClr>
              <a:buSzPct val="72727"/>
              <a:buAutoNum type="arabicPlain" startAt="3"/>
              <a:tabLst>
                <a:tab pos="179070" algn="l"/>
              </a:tabLst>
            </a:pP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9" action="ppaction://hlinksldjump"/>
              </a:rPr>
              <a:t>Technicalities</a:t>
            </a:r>
            <a:endParaRPr sz="1100">
              <a:latin typeface="Arial MT"/>
              <a:cs typeface="Arial MT"/>
            </a:endParaRPr>
          </a:p>
          <a:p>
            <a:pPr marL="316230" marR="44704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The</a:t>
            </a:r>
            <a:r>
              <a:rPr dirty="0" sz="1100" spc="-25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app’s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  <a:hlinkClick r:id="rId20" action="ppaction://hlinksldjump"/>
              </a:rPr>
              <a:t>structure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The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models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21" action="ppaction://hlinksldjump"/>
              </a:rPr>
              <a:t> used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80">
                <a:solidFill>
                  <a:srgbClr val="CCCCCC"/>
                </a:solidFill>
                <a:latin typeface="Arial MT"/>
                <a:cs typeface="Arial MT"/>
                <a:hlinkClick r:id="rId22" action="ppaction://hlinksldjump"/>
              </a:rPr>
              <a:t>FAISS</a:t>
            </a:r>
            <a:r>
              <a:rPr dirty="0" sz="1100" spc="20">
                <a:solidFill>
                  <a:srgbClr val="CCCCCC"/>
                </a:solidFill>
                <a:latin typeface="Arial MT"/>
                <a:cs typeface="Arial MT"/>
                <a:hlinkClick r:id="rId22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22" action="ppaction://hlinksldjump"/>
              </a:rPr>
              <a:t>indexes</a:t>
            </a:r>
            <a:endParaRPr sz="1100">
              <a:latin typeface="Arial MT"/>
              <a:cs typeface="Arial MT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23" action="ppaction://hlinksldjump"/>
              </a:rPr>
              <a:t>The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23" action="ppaction://hlinksldjump"/>
              </a:rPr>
              <a:t>Database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3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220408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The</a:t>
            </a:r>
            <a:r>
              <a:rPr dirty="0" sz="1400" spc="-30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B864B"/>
                </a:solidFill>
                <a:latin typeface="Tahoma"/>
                <a:cs typeface="Tahoma"/>
              </a:rPr>
              <a:t>main</a:t>
            </a:r>
            <a:r>
              <a:rPr dirty="0" sz="1400" spc="-2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B864B"/>
                </a:solidFill>
                <a:latin typeface="Tahoma"/>
                <a:cs typeface="Tahoma"/>
              </a:rPr>
              <a:t>window</a:t>
            </a:r>
            <a:r>
              <a:rPr dirty="0" sz="1400" spc="-2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-</a:t>
            </a:r>
            <a:r>
              <a:rPr dirty="0" sz="1400" spc="-2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B864B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438445"/>
            <a:ext cx="3464621" cy="228903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43926" y="2848894"/>
            <a:ext cx="1720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3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Main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window </a:t>
            </a:r>
            <a:r>
              <a:rPr dirty="0" sz="1000">
                <a:latin typeface="Arial MT"/>
                <a:cs typeface="Arial MT"/>
              </a:rPr>
              <a:t>on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startup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3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-30"/>
              <a:t> </a:t>
            </a:r>
            <a:r>
              <a:rPr dirty="0" spc="-20"/>
              <a:t>main</a:t>
            </a:r>
            <a:r>
              <a:rPr dirty="0" spc="-25"/>
              <a:t> </a:t>
            </a:r>
            <a:r>
              <a:rPr dirty="0" spc="-60"/>
              <a:t>window</a:t>
            </a:r>
            <a:r>
              <a:rPr dirty="0" spc="-2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 spc="-10"/>
              <a:t>Buttons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85672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83994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66112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548216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5844" y="548409"/>
            <a:ext cx="4328795" cy="228028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main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window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features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4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buttons:</a:t>
            </a:r>
            <a:endParaRPr sz="1100">
              <a:latin typeface="Arial MT"/>
              <a:cs typeface="Arial MT"/>
            </a:endParaRPr>
          </a:p>
          <a:p>
            <a:pPr marL="289560" marR="122555">
              <a:lnSpc>
                <a:spcPct val="102600"/>
              </a:lnSpc>
              <a:spcBef>
                <a:spcPts val="300"/>
              </a:spcBef>
            </a:pPr>
            <a:r>
              <a:rPr dirty="0" sz="1100" spc="-10" b="1">
                <a:latin typeface="Arial"/>
                <a:cs typeface="Arial"/>
              </a:rPr>
              <a:t>”Upload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image”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button: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used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select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file </a:t>
            </a:r>
            <a:r>
              <a:rPr dirty="0" sz="1100" spc="-65">
                <a:latin typeface="Arial MT"/>
                <a:cs typeface="Arial MT"/>
              </a:rPr>
              <a:t>system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add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application.</a:t>
            </a:r>
            <a:r>
              <a:rPr dirty="0" sz="1100" spc="114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After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has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been </a:t>
            </a:r>
            <a:r>
              <a:rPr dirty="0" sz="1100" spc="-55">
                <a:latin typeface="Arial MT"/>
                <a:cs typeface="Arial MT"/>
              </a:rPr>
              <a:t>loaded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 b="1">
                <a:latin typeface="Arial"/>
                <a:cs typeface="Arial"/>
              </a:rPr>
              <a:t>”Proposed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labels”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40">
                <a:latin typeface="Arial MT"/>
                <a:cs typeface="Arial MT"/>
              </a:rPr>
              <a:t>section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will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be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populated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100">
                <a:latin typeface="Arial MT"/>
                <a:cs typeface="Arial MT"/>
              </a:rPr>
              <a:t>classes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were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detected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>
                <a:latin typeface="Arial MT"/>
                <a:cs typeface="Arial MT"/>
              </a:rPr>
              <a:t> the </a:t>
            </a:r>
            <a:r>
              <a:rPr dirty="0" sz="1100" spc="-70">
                <a:latin typeface="Arial MT"/>
                <a:cs typeface="Arial MT"/>
              </a:rPr>
              <a:t>DeepLab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model;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clicking</a:t>
            </a:r>
            <a:r>
              <a:rPr dirty="0" sz="1100">
                <a:latin typeface="Arial MT"/>
                <a:cs typeface="Arial MT"/>
              </a:rPr>
              <a:t> on </a:t>
            </a:r>
            <a:r>
              <a:rPr dirty="0" sz="1100" spc="-20">
                <a:latin typeface="Arial MT"/>
                <a:cs typeface="Arial MT"/>
              </a:rPr>
              <a:t>them </a:t>
            </a:r>
            <a:r>
              <a:rPr dirty="0" sz="1100">
                <a:latin typeface="Arial MT"/>
                <a:cs typeface="Arial MT"/>
              </a:rPr>
              <a:t>will</a:t>
            </a:r>
            <a:r>
              <a:rPr dirty="0" sz="1100" spc="-10">
                <a:latin typeface="Arial MT"/>
                <a:cs typeface="Arial MT"/>
              </a:rPr>
              <a:t> highlight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correspondent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segmentation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mask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image.</a:t>
            </a:r>
            <a:endParaRPr sz="1100">
              <a:latin typeface="Arial MT"/>
              <a:cs typeface="Arial MT"/>
            </a:endParaRPr>
          </a:p>
          <a:p>
            <a:pPr marL="289560" marR="43815">
              <a:lnSpc>
                <a:spcPct val="102600"/>
              </a:lnSpc>
              <a:spcBef>
                <a:spcPts val="300"/>
              </a:spcBef>
            </a:pPr>
            <a:r>
              <a:rPr dirty="0" sz="1100" b="1">
                <a:latin typeface="Arial"/>
                <a:cs typeface="Arial"/>
              </a:rPr>
              <a:t>”Add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database”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button: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This</a:t>
            </a:r>
            <a:r>
              <a:rPr dirty="0" sz="1100">
                <a:latin typeface="Arial MT"/>
                <a:cs typeface="Arial MT"/>
              </a:rPr>
              <a:t> button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will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add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current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image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relevant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database.</a:t>
            </a:r>
            <a:endParaRPr sz="1100">
              <a:latin typeface="Arial MT"/>
              <a:cs typeface="Arial MT"/>
            </a:endParaRPr>
          </a:p>
          <a:p>
            <a:pPr marL="289560" marR="83820">
              <a:lnSpc>
                <a:spcPct val="102600"/>
              </a:lnSpc>
              <a:spcBef>
                <a:spcPts val="300"/>
              </a:spcBef>
            </a:pPr>
            <a:r>
              <a:rPr dirty="0" sz="1100" spc="-35" b="1">
                <a:latin typeface="Arial"/>
                <a:cs typeface="Arial"/>
              </a:rPr>
              <a:t>”Search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similar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images”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button: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Will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query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database</a:t>
            </a:r>
            <a:r>
              <a:rPr dirty="0" sz="1100">
                <a:latin typeface="Arial MT"/>
                <a:cs typeface="Arial MT"/>
              </a:rPr>
              <a:t> with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20">
                <a:latin typeface="Arial MT"/>
                <a:cs typeface="Arial MT"/>
              </a:rPr>
              <a:t>current</a:t>
            </a:r>
            <a:r>
              <a:rPr dirty="0" sz="1100" spc="-10">
                <a:latin typeface="Arial MT"/>
                <a:cs typeface="Arial MT"/>
              </a:rPr>
              <a:t> image.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295"/>
              </a:spcBef>
            </a:pPr>
            <a:r>
              <a:rPr dirty="0" sz="1100" spc="-30" b="1">
                <a:latin typeface="Arial"/>
                <a:cs typeface="Arial"/>
              </a:rPr>
              <a:t>”Remove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blur”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button: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Will </a:t>
            </a:r>
            <a:r>
              <a:rPr dirty="0" sz="1100" spc="-45">
                <a:latin typeface="Arial MT"/>
                <a:cs typeface="Arial MT"/>
              </a:rPr>
              <a:t>clear</a:t>
            </a:r>
            <a:r>
              <a:rPr dirty="0" sz="1100">
                <a:latin typeface="Arial MT"/>
                <a:cs typeface="Arial MT"/>
              </a:rPr>
              <a:t> the </a:t>
            </a:r>
            <a:r>
              <a:rPr dirty="0" sz="1100" spc="-20">
                <a:latin typeface="Arial MT"/>
                <a:cs typeface="Arial MT"/>
              </a:rPr>
              <a:t>currently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shown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segmentation </a:t>
            </a:r>
            <a:r>
              <a:rPr dirty="0" sz="1100" spc="-20">
                <a:latin typeface="Arial MT"/>
                <a:cs typeface="Arial MT"/>
              </a:rPr>
              <a:t>mask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6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3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565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 spc="-20"/>
              <a:t>main</a:t>
            </a:r>
            <a:r>
              <a:rPr dirty="0" spc="-35"/>
              <a:t> </a:t>
            </a:r>
            <a:r>
              <a:rPr dirty="0" spc="-60"/>
              <a:t>window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35"/>
              <a:t> Loaded </a:t>
            </a:r>
            <a:r>
              <a:rPr dirty="0" spc="-45"/>
              <a:t>image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395646"/>
            <a:ext cx="3464621" cy="228903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5844" y="2785851"/>
            <a:ext cx="417195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4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window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after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image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has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been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loaded.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DeepLab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detected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cows and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birds.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30"/>
              <a:t>3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2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98386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-25"/>
              <a:t> </a:t>
            </a:r>
            <a:r>
              <a:rPr dirty="0" spc="-20"/>
              <a:t>main </a:t>
            </a:r>
            <a:r>
              <a:rPr dirty="0" spc="-60"/>
              <a:t>window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40"/>
              <a:t>Segmentation</a:t>
            </a:r>
            <a:r>
              <a:rPr dirty="0" spc="-20"/>
              <a:t> </a:t>
            </a:r>
            <a:r>
              <a:rPr dirty="0" spc="-35"/>
              <a:t>mask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385803"/>
            <a:ext cx="3464621" cy="228903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5844" y="2776009"/>
            <a:ext cx="365506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2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Clicking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”bird”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40" b="1">
                <a:latin typeface="Arial"/>
                <a:cs typeface="Arial"/>
              </a:rPr>
              <a:t>Proposed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labels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list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will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show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 spc="-40">
                <a:latin typeface="Arial MT"/>
                <a:cs typeface="Arial MT"/>
              </a:rPr>
              <a:t>segmentation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mask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class.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How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50"/>
              <a:t>open</a:t>
            </a:r>
            <a:r>
              <a:rPr dirty="0" spc="-40"/>
              <a:t> </a:t>
            </a:r>
            <a:r>
              <a:rPr dirty="0" spc="-25"/>
              <a:t>them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356396"/>
            <a:ext cx="407987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user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reach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settings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window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-25">
                <a:latin typeface="Arial MT"/>
                <a:cs typeface="Arial MT"/>
              </a:rPr>
              <a:t> clicking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 b="1">
                <a:latin typeface="Arial"/>
                <a:cs typeface="Arial"/>
              </a:rPr>
              <a:t>Options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then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 b="1">
                <a:latin typeface="Arial"/>
                <a:cs typeface="Arial"/>
              </a:rPr>
              <a:t>Preferences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window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70561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2B864B"/>
                </a:solidFill>
                <a:latin typeface="Tahoma"/>
                <a:cs typeface="Tahoma"/>
              </a:rPr>
              <a:t>Settings</a:t>
            </a:r>
            <a:r>
              <a:rPr dirty="0" sz="1400" spc="-30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-</a:t>
            </a:r>
            <a:r>
              <a:rPr dirty="0" sz="1400" spc="-30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The</a:t>
            </a:r>
            <a:r>
              <a:rPr dirty="0" sz="1400" spc="-30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B864B"/>
                </a:solidFill>
                <a:latin typeface="Tahoma"/>
                <a:cs typeface="Tahoma"/>
              </a:rPr>
              <a:t>window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270" y="497626"/>
            <a:ext cx="2165416" cy="214111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93685" y="2760159"/>
            <a:ext cx="2221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Overview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 the </a:t>
            </a:r>
            <a:r>
              <a:rPr dirty="0" sz="1000" spc="-20">
                <a:latin typeface="Arial MT"/>
                <a:cs typeface="Arial MT"/>
              </a:rPr>
              <a:t>settings’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window.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6511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Settings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50"/>
              <a:t> </a:t>
            </a:r>
            <a:r>
              <a:rPr dirty="0"/>
              <a:t>What</a:t>
            </a:r>
            <a:r>
              <a:rPr dirty="0" spc="-55"/>
              <a:t> </a:t>
            </a:r>
            <a:r>
              <a:rPr dirty="0" spc="-10"/>
              <a:t>can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55"/>
              <a:t>user </a:t>
            </a:r>
            <a:r>
              <a:rPr dirty="0" spc="-10"/>
              <a:t>tune?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56310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75067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33232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1784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3033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608694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5844" y="615327"/>
            <a:ext cx="4356100" cy="209423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800">
                <a:latin typeface="Arial MT"/>
                <a:cs typeface="Arial MT"/>
              </a:rPr>
              <a:t>From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settings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user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can:</a:t>
            </a:r>
            <a:endParaRPr sz="800">
              <a:latin typeface="Arial MT"/>
              <a:cs typeface="Arial MT"/>
            </a:endParaRPr>
          </a:p>
          <a:p>
            <a:pPr marL="289560" marR="10795">
              <a:lnSpc>
                <a:spcPts val="950"/>
              </a:lnSpc>
              <a:spcBef>
                <a:spcPts val="325"/>
              </a:spcBef>
            </a:pPr>
            <a:r>
              <a:rPr dirty="0" sz="800">
                <a:latin typeface="Arial MT"/>
                <a:cs typeface="Arial MT"/>
              </a:rPr>
              <a:t>Edit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segmentation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threshold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30">
                <a:latin typeface="Arial MT"/>
                <a:cs typeface="Arial MT"/>
              </a:rPr>
              <a:t>used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produce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segmentation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maps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from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DeepLab’s </a:t>
            </a:r>
            <a:r>
              <a:rPr dirty="0" sz="800">
                <a:latin typeface="Arial MT"/>
                <a:cs typeface="Arial MT"/>
              </a:rPr>
              <a:t>output.</a:t>
            </a:r>
            <a:r>
              <a:rPr dirty="0" sz="800" spc="1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high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value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result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very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30">
                <a:latin typeface="Arial MT"/>
                <a:cs typeface="Arial MT"/>
              </a:rPr>
              <a:t>precise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segmentation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masks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miss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several</a:t>
            </a:r>
            <a:r>
              <a:rPr dirty="0" sz="800">
                <a:latin typeface="Arial MT"/>
                <a:cs typeface="Arial MT"/>
              </a:rPr>
              <a:t> small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details;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other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hand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low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value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result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imprecise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segmentation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masks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likely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detect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all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objects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from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certain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class.</a:t>
            </a:r>
            <a:endParaRPr sz="8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245"/>
              </a:spcBef>
            </a:pPr>
            <a:r>
              <a:rPr dirty="0" sz="800" spc="-10">
                <a:latin typeface="Arial MT"/>
                <a:cs typeface="Arial MT"/>
              </a:rPr>
              <a:t>Decide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how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many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images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retrieved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single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query.</a:t>
            </a:r>
            <a:endParaRPr sz="800">
              <a:latin typeface="Arial MT"/>
              <a:cs typeface="Arial MT"/>
            </a:endParaRPr>
          </a:p>
          <a:p>
            <a:pPr marL="289560" marR="5080">
              <a:lnSpc>
                <a:spcPts val="950"/>
              </a:lnSpc>
              <a:spcBef>
                <a:spcPts val="325"/>
              </a:spcBef>
            </a:pPr>
            <a:r>
              <a:rPr dirty="0" sz="800" spc="-10">
                <a:latin typeface="Arial MT"/>
                <a:cs typeface="Arial MT"/>
              </a:rPr>
              <a:t>Decide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if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database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should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prioritize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images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retrieved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both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content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semantic </a:t>
            </a:r>
            <a:r>
              <a:rPr dirty="0" sz="800" spc="-20">
                <a:latin typeface="Arial MT"/>
                <a:cs typeface="Arial MT"/>
              </a:rPr>
              <a:t>indexes.</a:t>
            </a:r>
            <a:r>
              <a:rPr dirty="0" sz="800" spc="1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default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query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30">
                <a:latin typeface="Arial MT"/>
                <a:cs typeface="Arial MT"/>
              </a:rPr>
              <a:t>processor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put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top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images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appear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both </a:t>
            </a:r>
            <a:r>
              <a:rPr dirty="0" sz="800" spc="-10">
                <a:latin typeface="Arial MT"/>
                <a:cs typeface="Arial MT"/>
              </a:rPr>
              <a:t>indexes’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results.</a:t>
            </a:r>
            <a:endParaRPr sz="800">
              <a:latin typeface="Arial MT"/>
              <a:cs typeface="Arial MT"/>
            </a:endParaRPr>
          </a:p>
          <a:p>
            <a:pPr marL="289560" marR="5080">
              <a:lnSpc>
                <a:spcPts val="950"/>
              </a:lnSpc>
              <a:spcBef>
                <a:spcPts val="290"/>
              </a:spcBef>
            </a:pPr>
            <a:r>
              <a:rPr dirty="0" sz="800" spc="-10">
                <a:latin typeface="Arial MT"/>
                <a:cs typeface="Arial MT"/>
              </a:rPr>
              <a:t>Decide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whether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prioritize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semantic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retrieved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images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first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content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retrieved </a:t>
            </a:r>
            <a:r>
              <a:rPr dirty="0" sz="800" spc="-20">
                <a:latin typeface="Arial MT"/>
                <a:cs typeface="Arial MT"/>
              </a:rPr>
              <a:t>ones.</a:t>
            </a:r>
            <a:r>
              <a:rPr dirty="0" sz="800" spc="8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default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settings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prioritize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semantic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retrieved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images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35">
                <a:latin typeface="Arial MT"/>
                <a:cs typeface="Arial MT"/>
              </a:rPr>
              <a:t>because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they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tend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to</a:t>
            </a:r>
            <a:r>
              <a:rPr dirty="0" sz="800">
                <a:latin typeface="Arial MT"/>
                <a:cs typeface="Arial MT"/>
              </a:rPr>
              <a:t> be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more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reliable.</a:t>
            </a:r>
            <a:endParaRPr sz="800">
              <a:latin typeface="Arial MT"/>
              <a:cs typeface="Arial MT"/>
            </a:endParaRPr>
          </a:p>
          <a:p>
            <a:pPr marL="289560" marR="60325">
              <a:lnSpc>
                <a:spcPts val="950"/>
              </a:lnSpc>
              <a:spcBef>
                <a:spcPts val="285"/>
              </a:spcBef>
            </a:pPr>
            <a:r>
              <a:rPr dirty="0" sz="800" spc="-10">
                <a:latin typeface="Arial MT"/>
                <a:cs typeface="Arial MT"/>
              </a:rPr>
              <a:t>Decide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split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between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content/semantic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retrieved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image.</a:t>
            </a:r>
            <a:r>
              <a:rPr dirty="0" sz="800" spc="1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default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split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is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50/50 </a:t>
            </a:r>
            <a:r>
              <a:rPr dirty="0" sz="800">
                <a:latin typeface="Arial MT"/>
                <a:cs typeface="Arial MT"/>
              </a:rPr>
              <a:t>but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50">
                <a:latin typeface="Arial MT"/>
                <a:cs typeface="Arial MT"/>
              </a:rPr>
              <a:t>it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can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tuned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user’s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preference.</a:t>
            </a:r>
            <a:endParaRPr sz="8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254"/>
              </a:spcBef>
            </a:pPr>
            <a:r>
              <a:rPr dirty="0" sz="800" spc="-25">
                <a:latin typeface="Arial MT"/>
                <a:cs typeface="Arial MT"/>
              </a:rPr>
              <a:t>Reset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initialize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database.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8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8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8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Resetting/Initialize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45"/>
              <a:t>database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561758"/>
            <a:ext cx="4356735" cy="8801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After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clicking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”Reset/Initialize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database”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settings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window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user</a:t>
            </a:r>
            <a:r>
              <a:rPr dirty="0" sz="1100" spc="-10">
                <a:latin typeface="Arial MT"/>
                <a:cs typeface="Arial MT"/>
              </a:rPr>
              <a:t> must </a:t>
            </a:r>
            <a:r>
              <a:rPr dirty="0" sz="1100" spc="-80">
                <a:latin typeface="Arial MT"/>
                <a:cs typeface="Arial MT"/>
              </a:rPr>
              <a:t>choose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folder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filesystem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 b="1">
                <a:latin typeface="Arial"/>
                <a:cs typeface="Arial"/>
              </a:rPr>
              <a:t>contains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only </a:t>
            </a:r>
            <a:r>
              <a:rPr dirty="0" sz="1100" spc="-40" b="1">
                <a:latin typeface="Arial"/>
                <a:cs typeface="Arial"/>
              </a:rPr>
              <a:t>images</a:t>
            </a:r>
            <a:r>
              <a:rPr dirty="0" sz="1100" spc="-40">
                <a:latin typeface="Arial MT"/>
                <a:cs typeface="Arial MT"/>
              </a:rPr>
              <a:t>.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Upon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pressing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reset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button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application</a:t>
            </a:r>
            <a:r>
              <a:rPr dirty="0" sz="1100">
                <a:latin typeface="Arial MT"/>
                <a:cs typeface="Arial MT"/>
              </a:rPr>
              <a:t> will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initialize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 spc="-50">
                <a:latin typeface="Arial MT"/>
                <a:cs typeface="Arial MT"/>
              </a:rPr>
              <a:t>index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database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contained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folder;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10">
                <a:latin typeface="Arial MT"/>
                <a:cs typeface="Arial MT"/>
              </a:rPr>
              <a:t> process </a:t>
            </a:r>
            <a:r>
              <a:rPr dirty="0" sz="1100" spc="-60">
                <a:latin typeface="Arial MT"/>
                <a:cs typeface="Arial MT"/>
              </a:rPr>
              <a:t>may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take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several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minutes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depending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on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number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images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folder.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270" y="1554749"/>
            <a:ext cx="2165518" cy="82925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366786" y="2505423"/>
            <a:ext cx="1873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reset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database</a:t>
            </a:r>
            <a:r>
              <a:rPr dirty="0" sz="1000" spc="-20">
                <a:latin typeface="Arial MT"/>
                <a:cs typeface="Arial MT"/>
              </a:rPr>
              <a:t> window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Behavior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681619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91652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01684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9041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pc="-65"/>
              <a:t>Once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85"/>
              <a:t>users</a:t>
            </a:r>
            <a:r>
              <a:rPr dirty="0" spc="10"/>
              <a:t> </a:t>
            </a:r>
            <a:r>
              <a:rPr dirty="0" spc="-30"/>
              <a:t>clicks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35" b="1">
                <a:latin typeface="Arial"/>
                <a:cs typeface="Arial"/>
              </a:rPr>
              <a:t>”Search</a:t>
            </a:r>
            <a:r>
              <a:rPr dirty="0" spc="10" b="1">
                <a:latin typeface="Arial"/>
                <a:cs typeface="Arial"/>
              </a:rPr>
              <a:t> </a:t>
            </a:r>
            <a:r>
              <a:rPr dirty="0" spc="-40" b="1">
                <a:latin typeface="Arial"/>
                <a:cs typeface="Arial"/>
              </a:rPr>
              <a:t>similar</a:t>
            </a:r>
            <a:r>
              <a:rPr dirty="0" spc="10" b="1">
                <a:latin typeface="Arial"/>
                <a:cs typeface="Arial"/>
              </a:rPr>
              <a:t> </a:t>
            </a:r>
            <a:r>
              <a:rPr dirty="0" spc="-40" b="1">
                <a:latin typeface="Arial"/>
                <a:cs typeface="Arial"/>
              </a:rPr>
              <a:t>images”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/>
              <a:t>button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20"/>
              <a:t>main </a:t>
            </a:r>
            <a:r>
              <a:rPr dirty="0" spc="-40"/>
              <a:t>window</a:t>
            </a:r>
            <a:r>
              <a:rPr dirty="0" spc="-10"/>
              <a:t> </a:t>
            </a:r>
            <a:r>
              <a:rPr dirty="0"/>
              <a:t>the </a:t>
            </a:r>
            <a:r>
              <a:rPr dirty="0" spc="-25"/>
              <a:t>result</a:t>
            </a:r>
            <a:r>
              <a:rPr dirty="0"/>
              <a:t> will</a:t>
            </a:r>
            <a:r>
              <a:rPr dirty="0" spc="-5"/>
              <a:t> </a:t>
            </a:r>
            <a:r>
              <a:rPr dirty="0" spc="-80"/>
              <a:t>show</a:t>
            </a:r>
            <a:r>
              <a:rPr dirty="0" spc="5"/>
              <a:t> </a:t>
            </a:r>
            <a:r>
              <a:rPr dirty="0"/>
              <a:t>up </a:t>
            </a:r>
            <a:r>
              <a:rPr dirty="0" spc="-50"/>
              <a:t>according</a:t>
            </a:r>
            <a:r>
              <a:rPr dirty="0"/>
              <a:t> to the</a:t>
            </a:r>
            <a:r>
              <a:rPr dirty="0" spc="-5"/>
              <a:t> </a:t>
            </a:r>
            <a:r>
              <a:rPr dirty="0" spc="-60"/>
              <a:t>user’s</a:t>
            </a:r>
            <a:r>
              <a:rPr dirty="0"/>
              <a:t> </a:t>
            </a:r>
            <a:r>
              <a:rPr dirty="0" spc="-60"/>
              <a:t>preferences.</a:t>
            </a:r>
            <a:r>
              <a:rPr dirty="0" spc="100"/>
              <a:t> </a:t>
            </a:r>
            <a:r>
              <a:rPr dirty="0" spc="-25"/>
              <a:t>The </a:t>
            </a:r>
            <a:r>
              <a:rPr dirty="0" spc="-30"/>
              <a:t>application</a:t>
            </a:r>
            <a:r>
              <a:rPr dirty="0" spc="-45"/>
              <a:t> </a:t>
            </a:r>
            <a:r>
              <a:rPr dirty="0" spc="-30"/>
              <a:t>color</a:t>
            </a:r>
            <a:r>
              <a:rPr dirty="0" spc="-15"/>
              <a:t> </a:t>
            </a:r>
            <a:r>
              <a:rPr dirty="0" spc="-80"/>
              <a:t>codes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25"/>
              <a:t>result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10"/>
              <a:t>inform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65"/>
              <a:t>user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 spc="-45"/>
              <a:t>how</a:t>
            </a:r>
            <a:r>
              <a:rPr dirty="0" spc="-15"/>
              <a:t> </a:t>
            </a:r>
            <a:r>
              <a:rPr dirty="0" spc="-10"/>
              <a:t>they</a:t>
            </a:r>
            <a:r>
              <a:rPr dirty="0" spc="-15"/>
              <a:t> </a:t>
            </a:r>
            <a:r>
              <a:rPr dirty="0" spc="-20"/>
              <a:t>were </a:t>
            </a:r>
            <a:r>
              <a:rPr dirty="0" spc="-10"/>
              <a:t>retrieved:</a:t>
            </a:r>
          </a:p>
          <a:p>
            <a:pPr marL="289560" marR="1066800">
              <a:lnSpc>
                <a:spcPct val="125299"/>
              </a:lnSpc>
            </a:pPr>
            <a:r>
              <a:rPr dirty="0" b="1">
                <a:solidFill>
                  <a:srgbClr val="0000FF"/>
                </a:solidFill>
                <a:latin typeface="Arial"/>
                <a:cs typeface="Arial"/>
              </a:rPr>
              <a:t>Blue</a:t>
            </a:r>
            <a:r>
              <a:rPr dirty="0"/>
              <a:t>:</a:t>
            </a:r>
            <a:r>
              <a:rPr dirty="0" spc="40"/>
              <a:t> </a:t>
            </a:r>
            <a:r>
              <a:rPr dirty="0" spc="-30"/>
              <a:t>For</a:t>
            </a:r>
            <a:r>
              <a:rPr dirty="0" spc="-20"/>
              <a:t> </a:t>
            </a:r>
            <a:r>
              <a:rPr dirty="0" spc="-75"/>
              <a:t>images</a:t>
            </a:r>
            <a:r>
              <a:rPr dirty="0"/>
              <a:t> </a:t>
            </a:r>
            <a:r>
              <a:rPr dirty="0" spc="-35"/>
              <a:t>retrieved</a:t>
            </a:r>
            <a:r>
              <a:rPr dirty="0" spc="-25"/>
              <a:t> </a:t>
            </a:r>
            <a:r>
              <a:rPr dirty="0" spc="-10"/>
              <a:t>by</a:t>
            </a:r>
            <a:r>
              <a:rPr dirty="0" spc="-20"/>
              <a:t> </a:t>
            </a:r>
            <a:r>
              <a:rPr dirty="0"/>
              <a:t>both</a:t>
            </a:r>
            <a:r>
              <a:rPr dirty="0" spc="-25"/>
              <a:t> </a:t>
            </a:r>
            <a:r>
              <a:rPr dirty="0" spc="-10"/>
              <a:t>indexes.</a:t>
            </a:r>
            <a:r>
              <a:rPr dirty="0" spc="-10"/>
              <a:t> </a:t>
            </a:r>
            <a:r>
              <a:rPr dirty="0" spc="-20" b="1">
                <a:solidFill>
                  <a:srgbClr val="2B864B"/>
                </a:solidFill>
                <a:latin typeface="Arial"/>
                <a:cs typeface="Arial"/>
              </a:rPr>
              <a:t>Green</a:t>
            </a:r>
            <a:r>
              <a:rPr dirty="0" spc="-20"/>
              <a:t>:</a:t>
            </a:r>
            <a:r>
              <a:rPr dirty="0" spc="30"/>
              <a:t> </a:t>
            </a:r>
            <a:r>
              <a:rPr dirty="0" spc="-30"/>
              <a:t>For</a:t>
            </a:r>
            <a:r>
              <a:rPr dirty="0" spc="-25"/>
              <a:t> </a:t>
            </a:r>
            <a:r>
              <a:rPr dirty="0" spc="-75"/>
              <a:t>images</a:t>
            </a:r>
            <a:r>
              <a:rPr dirty="0"/>
              <a:t> </a:t>
            </a:r>
            <a:r>
              <a:rPr dirty="0" spc="-35"/>
              <a:t>retrieved</a:t>
            </a:r>
            <a:r>
              <a:rPr dirty="0" spc="-30"/>
              <a:t> </a:t>
            </a:r>
            <a:r>
              <a:rPr dirty="0" spc="-10"/>
              <a:t>by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45"/>
              <a:t>semantic</a:t>
            </a:r>
            <a:r>
              <a:rPr dirty="0" spc="-25"/>
              <a:t> index. </a:t>
            </a:r>
            <a:r>
              <a:rPr dirty="0" spc="-10" b="1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dirty="0" spc="-10"/>
              <a:t>:</a:t>
            </a:r>
            <a:r>
              <a:rPr dirty="0" spc="25"/>
              <a:t> </a:t>
            </a:r>
            <a:r>
              <a:rPr dirty="0" spc="-30"/>
              <a:t>For </a:t>
            </a:r>
            <a:r>
              <a:rPr dirty="0" spc="-75"/>
              <a:t>images</a:t>
            </a:r>
            <a:r>
              <a:rPr dirty="0"/>
              <a:t> </a:t>
            </a:r>
            <a:r>
              <a:rPr dirty="0" spc="-35"/>
              <a:t>retrieved</a:t>
            </a:r>
            <a:r>
              <a:rPr dirty="0" spc="-30"/>
              <a:t> </a:t>
            </a:r>
            <a:r>
              <a:rPr dirty="0" spc="-10"/>
              <a:t>by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content</a:t>
            </a:r>
            <a:r>
              <a:rPr dirty="0" spc="-30"/>
              <a:t> </a:t>
            </a:r>
            <a:r>
              <a:rPr dirty="0" spc="-10"/>
              <a:t>index.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/>
              <a:t>The</a:t>
            </a:r>
            <a:r>
              <a:rPr dirty="0" spc="-15"/>
              <a:t> </a:t>
            </a:r>
            <a:r>
              <a:rPr dirty="0" spc="-40"/>
              <a:t>results</a:t>
            </a:r>
            <a:r>
              <a:rPr dirty="0" spc="-10"/>
              <a:t> </a:t>
            </a:r>
            <a:r>
              <a:rPr dirty="0" spc="-60"/>
              <a:t>are</a:t>
            </a:r>
            <a:r>
              <a:rPr dirty="0" spc="-15"/>
              <a:t> </a:t>
            </a:r>
            <a:r>
              <a:rPr dirty="0" spc="-40"/>
              <a:t>sorted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10"/>
              <a:t> </a:t>
            </a:r>
            <a:r>
              <a:rPr dirty="0" spc="-65"/>
              <a:t>decreasing</a:t>
            </a:r>
            <a:r>
              <a:rPr dirty="0" spc="-10"/>
              <a:t> </a:t>
            </a:r>
            <a:r>
              <a:rPr dirty="0" spc="-20"/>
              <a:t>similarity</a:t>
            </a:r>
            <a:r>
              <a:rPr dirty="0" spc="-10"/>
              <a:t> scores.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Examples</a:t>
            </a:r>
            <a:r>
              <a:rPr dirty="0" spc="-70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 spc="-85"/>
              <a:t>Images</a:t>
            </a:r>
            <a:r>
              <a:rPr dirty="0" spc="-25"/>
              <a:t> </a:t>
            </a:r>
            <a:r>
              <a:rPr dirty="0" spc="-45"/>
              <a:t>retrieved</a:t>
            </a:r>
            <a:r>
              <a:rPr dirty="0" spc="-50"/>
              <a:t> </a:t>
            </a:r>
            <a:r>
              <a:rPr dirty="0" spc="-30"/>
              <a:t>by</a:t>
            </a:r>
            <a:r>
              <a:rPr dirty="0" spc="-50"/>
              <a:t> </a:t>
            </a:r>
            <a:r>
              <a:rPr dirty="0"/>
              <a:t>both</a:t>
            </a:r>
            <a:r>
              <a:rPr dirty="0" spc="-45"/>
              <a:t> </a:t>
            </a:r>
            <a:r>
              <a:rPr dirty="0" spc="-50"/>
              <a:t>indexes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989" y="413104"/>
            <a:ext cx="2381897" cy="235243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07427" y="2886956"/>
            <a:ext cx="27940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Example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images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retrieved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both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indexes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10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8777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Examples</a:t>
            </a:r>
            <a:r>
              <a:rPr dirty="0" spc="-70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85"/>
              <a:t>Images</a:t>
            </a:r>
            <a:r>
              <a:rPr dirty="0" spc="-25"/>
              <a:t> </a:t>
            </a:r>
            <a:r>
              <a:rPr dirty="0" spc="-45"/>
              <a:t>retrieved</a:t>
            </a:r>
            <a:r>
              <a:rPr dirty="0" spc="-55"/>
              <a:t> </a:t>
            </a:r>
            <a:r>
              <a:rPr dirty="0" spc="-30"/>
              <a:t>by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40"/>
              <a:t>semantic</a:t>
            </a:r>
            <a:r>
              <a:rPr dirty="0" spc="-50"/>
              <a:t> </a:t>
            </a:r>
            <a:r>
              <a:rPr dirty="0" spc="-20"/>
              <a:t>index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989" y="413104"/>
            <a:ext cx="2381897" cy="235243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44880" y="2886956"/>
            <a:ext cx="31184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Example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images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retrieved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semantic</a:t>
            </a:r>
            <a:r>
              <a:rPr dirty="0" sz="1000" spc="-10">
                <a:latin typeface="Arial MT"/>
                <a:cs typeface="Arial MT"/>
              </a:rPr>
              <a:t> index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4299282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30">
                <a:solidFill>
                  <a:srgbClr val="19502D"/>
                </a:solidFill>
                <a:latin typeface="Arial MT"/>
                <a:cs typeface="Arial MT"/>
              </a:rPr>
              <a:t>16</a:t>
            </a:r>
            <a:r>
              <a:rPr dirty="0" sz="600" spc="-55">
                <a:solidFill>
                  <a:srgbClr val="19502D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19502D"/>
                </a:solidFill>
                <a:latin typeface="Arial MT"/>
                <a:cs typeface="Arial MT"/>
              </a:rPr>
              <a:t>/</a:t>
            </a:r>
            <a:r>
              <a:rPr dirty="0" sz="600" spc="-55">
                <a:solidFill>
                  <a:srgbClr val="19502D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19502D"/>
                </a:solidFill>
                <a:latin typeface="Arial MT"/>
                <a:cs typeface="Arial MT"/>
              </a:rPr>
              <a:t>37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69633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Examples</a:t>
            </a:r>
            <a:r>
              <a:rPr dirty="0" spc="-70"/>
              <a:t> </a:t>
            </a:r>
            <a:r>
              <a:rPr dirty="0"/>
              <a:t>-</a:t>
            </a:r>
            <a:r>
              <a:rPr dirty="0" spc="-75"/>
              <a:t> </a:t>
            </a:r>
            <a:r>
              <a:rPr dirty="0" spc="-85"/>
              <a:t>Images</a:t>
            </a:r>
            <a:r>
              <a:rPr dirty="0" spc="-25"/>
              <a:t> </a:t>
            </a:r>
            <a:r>
              <a:rPr dirty="0" spc="-45"/>
              <a:t>retrieved</a:t>
            </a:r>
            <a:r>
              <a:rPr dirty="0" spc="-55"/>
              <a:t> </a:t>
            </a:r>
            <a:r>
              <a:rPr dirty="0" spc="-30"/>
              <a:t>by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20"/>
              <a:t>content</a:t>
            </a:r>
            <a:r>
              <a:rPr dirty="0" spc="-55"/>
              <a:t> </a:t>
            </a:r>
            <a:r>
              <a:rPr dirty="0" spc="-20"/>
              <a:t>index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989" y="413104"/>
            <a:ext cx="2381897" cy="235243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77735" y="2886956"/>
            <a:ext cx="30524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Example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images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retrieved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content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index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17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Table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25"/>
              <a:t>Contents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1403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610741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CFB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583309"/>
            <a:ext cx="734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970242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194041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366113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1538198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1710270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2017382"/>
            <a:ext cx="160096" cy="16009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9582" y="2241181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582" y="2413254"/>
            <a:ext cx="65265" cy="6526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9582" y="2585326"/>
            <a:ext cx="65265" cy="6526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757411"/>
            <a:ext cx="65265" cy="6526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29743" y="942148"/>
            <a:ext cx="1906905" cy="1927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90"/>
              </a:spcBef>
              <a:buClr>
                <a:srgbClr val="FAFCFB"/>
              </a:buClr>
              <a:buSzPct val="72727"/>
              <a:buAutoNum type="arabicPlain" startAt="2"/>
              <a:tabLst>
                <a:tab pos="179070" algn="l"/>
              </a:tabLst>
            </a:pP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4" action="ppaction://hlinksldjump"/>
              </a:rPr>
              <a:t>App’s</a:t>
            </a:r>
            <a:r>
              <a:rPr dirty="0" sz="1100" spc="-40">
                <a:solidFill>
                  <a:srgbClr val="CCCCCC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4" action="ppaction://hlinksldjump"/>
              </a:rPr>
              <a:t>structure</a:t>
            </a:r>
            <a:endParaRPr sz="1100">
              <a:latin typeface="Arial MT"/>
              <a:cs typeface="Arial MT"/>
            </a:endParaRPr>
          </a:p>
          <a:p>
            <a:pPr marL="316230" marR="550545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The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main</a:t>
            </a:r>
            <a:r>
              <a:rPr dirty="0" sz="1100" spc="-45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  <a:hlinkClick r:id="rId15" action="ppaction://hlinksldjump"/>
              </a:rPr>
              <a:t>window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6" action="ppaction://hlinksldjump"/>
              </a:rPr>
              <a:t>The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16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6" action="ppaction://hlinksldjump"/>
              </a:rPr>
              <a:t>settings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The</a:t>
            </a:r>
            <a:r>
              <a:rPr dirty="0" sz="1100" spc="-2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reset</a:t>
            </a:r>
            <a:r>
              <a:rPr dirty="0" sz="1100" spc="-1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database</a:t>
            </a:r>
            <a:r>
              <a:rPr dirty="0" sz="1100" spc="-1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  <a:hlinkClick r:id="rId17" action="ppaction://hlinksldjump"/>
              </a:rPr>
              <a:t>window</a:t>
            </a:r>
            <a:r>
              <a:rPr dirty="0" sz="1100" spc="-55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The</a:t>
            </a:r>
            <a:r>
              <a:rPr dirty="0" sz="1100" spc="-45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40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query</a:t>
            </a:r>
            <a:r>
              <a:rPr dirty="0" sz="1100" spc="-35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8" action="ppaction://hlinksldjump"/>
              </a:rPr>
              <a:t>viewer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Arial MT"/>
              <a:cs typeface="Arial MT"/>
            </a:endParaRPr>
          </a:p>
          <a:p>
            <a:pPr marL="179070" indent="-166370">
              <a:lnSpc>
                <a:spcPct val="100000"/>
              </a:lnSpc>
              <a:buClr>
                <a:srgbClr val="E9F2EC"/>
              </a:buClr>
              <a:buSzPct val="72727"/>
              <a:buAutoNum type="arabicPlain" startAt="3"/>
              <a:tabLst>
                <a:tab pos="179070" algn="l"/>
              </a:tabLst>
            </a:pPr>
            <a:r>
              <a:rPr dirty="0" sz="1100" spc="-10">
                <a:latin typeface="Arial MT"/>
                <a:cs typeface="Arial MT"/>
                <a:hlinkClick r:id="rId19" action="ppaction://hlinksldjump"/>
              </a:rPr>
              <a:t>Technicalities</a:t>
            </a:r>
            <a:endParaRPr sz="1100">
              <a:latin typeface="Arial MT"/>
              <a:cs typeface="Arial MT"/>
            </a:endParaRPr>
          </a:p>
          <a:p>
            <a:pPr marL="316230" marR="447040">
              <a:lnSpc>
                <a:spcPct val="102600"/>
              </a:lnSpc>
            </a:pPr>
            <a:r>
              <a:rPr dirty="0" sz="1100">
                <a:latin typeface="Arial MT"/>
                <a:cs typeface="Arial MT"/>
                <a:hlinkClick r:id="rId20" action="ppaction://hlinksldjump"/>
              </a:rPr>
              <a:t>The</a:t>
            </a:r>
            <a:r>
              <a:rPr dirty="0" sz="1100" spc="-25"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50">
                <a:latin typeface="Arial MT"/>
                <a:cs typeface="Arial MT"/>
                <a:hlinkClick r:id="rId20" action="ppaction://hlinksldjump"/>
              </a:rPr>
              <a:t>app’s</a:t>
            </a:r>
            <a:r>
              <a:rPr dirty="0" sz="1100" spc="-20">
                <a:latin typeface="Arial MT"/>
                <a:cs typeface="Arial MT"/>
                <a:hlinkClick r:id="rId20" action="ppaction://hlinksldjump"/>
              </a:rPr>
              <a:t> </a:t>
            </a:r>
            <a:r>
              <a:rPr dirty="0" sz="1100" spc="-30">
                <a:latin typeface="Arial MT"/>
                <a:cs typeface="Arial MT"/>
                <a:hlinkClick r:id="rId20" action="ppaction://hlinksldjump"/>
              </a:rPr>
              <a:t>structure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  <a:hlinkClick r:id="rId21" action="ppaction://hlinksldjump"/>
              </a:rPr>
              <a:t>The</a:t>
            </a:r>
            <a:r>
              <a:rPr dirty="0" sz="1100" spc="-50">
                <a:latin typeface="Arial MT"/>
                <a:cs typeface="Arial MT"/>
                <a:hlinkClick r:id="rId21" action="ppaction://hlinksldjump"/>
              </a:rPr>
              <a:t> </a:t>
            </a:r>
            <a:r>
              <a:rPr dirty="0" sz="1100" spc="-55">
                <a:latin typeface="Arial MT"/>
                <a:cs typeface="Arial MT"/>
                <a:hlinkClick r:id="rId21" action="ppaction://hlinksldjump"/>
              </a:rPr>
              <a:t>models</a:t>
            </a:r>
            <a:r>
              <a:rPr dirty="0" sz="1100" spc="-20">
                <a:latin typeface="Arial MT"/>
                <a:cs typeface="Arial MT"/>
                <a:hlinkClick r:id="rId21" action="ppaction://hlinksldjump"/>
              </a:rPr>
              <a:t> used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  <a:hlinkClick r:id="rId22" action="ppaction://hlinksldjump"/>
              </a:rPr>
              <a:t>FAISS</a:t>
            </a:r>
            <a:r>
              <a:rPr dirty="0" sz="1100" spc="20">
                <a:latin typeface="Arial MT"/>
                <a:cs typeface="Arial MT"/>
                <a:hlinkClick r:id="rId22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22" action="ppaction://hlinksldjump"/>
              </a:rPr>
              <a:t>indexes</a:t>
            </a:r>
            <a:endParaRPr sz="1100">
              <a:latin typeface="Arial MT"/>
              <a:cs typeface="Arial MT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Arial MT"/>
                <a:cs typeface="Arial MT"/>
                <a:hlinkClick r:id="rId23" action="ppaction://hlinksldjump"/>
              </a:rPr>
              <a:t>The</a:t>
            </a:r>
            <a:r>
              <a:rPr dirty="0" sz="1100" spc="-60">
                <a:latin typeface="Arial MT"/>
                <a:cs typeface="Arial MT"/>
                <a:hlinkClick r:id="rId23" action="ppaction://hlinksldjump"/>
              </a:rPr>
              <a:t> </a:t>
            </a:r>
            <a:r>
              <a:rPr dirty="0" sz="1100" spc="-10">
                <a:latin typeface="Arial MT"/>
                <a:cs typeface="Arial MT"/>
                <a:hlinkClick r:id="rId23" action="ppaction://hlinksldjump"/>
              </a:rPr>
              <a:t>Database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17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34366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2B864B"/>
                </a:solidFill>
                <a:latin typeface="Tahoma"/>
                <a:cs typeface="Tahoma"/>
              </a:rPr>
              <a:t>Loading</a:t>
            </a:r>
            <a:r>
              <a:rPr dirty="0" sz="1400" spc="-7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an</a:t>
            </a:r>
            <a:r>
              <a:rPr dirty="0" sz="1400" spc="-70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B864B"/>
                </a:solidFill>
                <a:latin typeface="Tahoma"/>
                <a:cs typeface="Tahoma"/>
              </a:rPr>
              <a:t>image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644649"/>
            <a:ext cx="4330891" cy="179154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18259" y="2557607"/>
            <a:ext cx="137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3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Loading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image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19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24447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5">
                <a:solidFill>
                  <a:srgbClr val="2B864B"/>
                </a:solidFill>
                <a:latin typeface="Tahoma"/>
                <a:cs typeface="Tahoma"/>
              </a:rPr>
              <a:t>Saving</a:t>
            </a:r>
            <a:r>
              <a:rPr dirty="0" sz="1400" spc="-7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an</a:t>
            </a:r>
            <a:r>
              <a:rPr dirty="0" sz="1400" spc="-6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2B864B"/>
                </a:solidFill>
                <a:latin typeface="Tahoma"/>
                <a:cs typeface="Tahoma"/>
              </a:rPr>
              <a:t>image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in</a:t>
            </a:r>
            <a:r>
              <a:rPr dirty="0" sz="1400" spc="-6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the</a:t>
            </a:r>
            <a:r>
              <a:rPr dirty="0" sz="1400" spc="-6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2B864B"/>
                </a:solidFill>
                <a:latin typeface="Tahoma"/>
                <a:cs typeface="Tahoma"/>
              </a:rPr>
              <a:t>database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24" y="342259"/>
            <a:ext cx="4114491" cy="250826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19352" y="2971944"/>
            <a:ext cx="21691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Saving</a:t>
            </a:r>
            <a:r>
              <a:rPr dirty="0" sz="1000" spc="-10">
                <a:latin typeface="Arial MT"/>
                <a:cs typeface="Arial MT"/>
              </a:rPr>
              <a:t> an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image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database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19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8395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>
                <a:solidFill>
                  <a:srgbClr val="2B864B"/>
                </a:solidFill>
                <a:latin typeface="Tahoma"/>
                <a:cs typeface="Tahoma"/>
              </a:rPr>
              <a:t>Searching</a:t>
            </a:r>
            <a:r>
              <a:rPr dirty="0" sz="1400" spc="-6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2B864B"/>
                </a:solidFill>
                <a:latin typeface="Tahoma"/>
                <a:cs typeface="Tahoma"/>
              </a:rPr>
              <a:t>similar</a:t>
            </a:r>
            <a:r>
              <a:rPr dirty="0" sz="1400" spc="-6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2B864B"/>
                </a:solidFill>
                <a:latin typeface="Tahoma"/>
                <a:cs typeface="Tahoma"/>
              </a:rPr>
              <a:t>images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564581"/>
            <a:ext cx="4327131" cy="199627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92250" y="2716103"/>
            <a:ext cx="1623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Querying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database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19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DeepLabv3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387539"/>
            <a:ext cx="4357370" cy="10521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70">
                <a:latin typeface="Arial MT"/>
                <a:cs typeface="Arial MT"/>
                <a:hlinkClick r:id="rId2"/>
              </a:rPr>
              <a:t>DeepLab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>
                <a:latin typeface="Arial MT"/>
                <a:cs typeface="Arial MT"/>
              </a:rPr>
              <a:t> a </a:t>
            </a:r>
            <a:r>
              <a:rPr dirty="0" sz="1100" spc="-35">
                <a:latin typeface="Arial MT"/>
                <a:cs typeface="Arial MT"/>
              </a:rPr>
              <a:t>convolutional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architecture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 </a:t>
            </a:r>
            <a:r>
              <a:rPr dirty="0" sz="1100" spc="-45">
                <a:latin typeface="Arial MT"/>
                <a:cs typeface="Arial MT"/>
              </a:rPr>
              <a:t>semantic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segmentation </a:t>
            </a:r>
            <a:r>
              <a:rPr dirty="0" sz="1100" spc="-50">
                <a:latin typeface="Arial MT"/>
                <a:cs typeface="Arial MT"/>
              </a:rPr>
              <a:t>published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2017.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It’s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composed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architecture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takes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care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of </a:t>
            </a:r>
            <a:r>
              <a:rPr dirty="0" sz="1100" spc="-40">
                <a:latin typeface="Arial MT"/>
                <a:cs typeface="Arial MT"/>
              </a:rPr>
              <a:t>elaborating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>
                <a:latin typeface="Arial MT"/>
                <a:cs typeface="Arial MT"/>
              </a:rPr>
              <a:t> 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estract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deep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features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(backbone)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 </a:t>
            </a:r>
            <a:r>
              <a:rPr dirty="0" sz="1100" spc="-35">
                <a:latin typeface="Arial MT"/>
                <a:cs typeface="Arial MT"/>
              </a:rPr>
              <a:t>architecture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elaborates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these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features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different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resolutions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 spc="-55">
                <a:latin typeface="Arial MT"/>
                <a:cs typeface="Arial MT"/>
              </a:rPr>
              <a:t>concatenates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express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segmentation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masks;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5">
                <a:latin typeface="Arial MT"/>
                <a:cs typeface="Arial MT"/>
              </a:rPr>
              <a:t>layer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called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ASPP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(Atrous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Spatial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Pyramid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Pooling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layer).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989" y="1574046"/>
            <a:ext cx="4307988" cy="106440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23885" y="2766738"/>
            <a:ext cx="15608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DeepLab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architecture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DeepLabv3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50"/>
              <a:t>Implementation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070304"/>
            <a:ext cx="4246245" cy="10521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70">
                <a:latin typeface="Arial MT"/>
                <a:cs typeface="Arial MT"/>
              </a:rPr>
              <a:t>DeepLab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very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big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model</a:t>
            </a:r>
            <a:r>
              <a:rPr dirty="0" sz="1100">
                <a:latin typeface="Arial MT"/>
                <a:cs typeface="Arial MT"/>
              </a:rPr>
              <a:t> 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very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hard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 train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due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dimension </a:t>
            </a:r>
            <a:r>
              <a:rPr dirty="0" sz="1100">
                <a:latin typeface="Arial MT"/>
                <a:cs typeface="Arial MT"/>
              </a:rPr>
              <a:t>without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proper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hardware.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loaded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  <a:hlinkClick r:id="rId2"/>
              </a:rPr>
              <a:t>pre-</a:t>
            </a:r>
            <a:r>
              <a:rPr dirty="0" sz="1100" spc="-25">
                <a:latin typeface="Arial MT"/>
                <a:cs typeface="Arial MT"/>
                <a:hlinkClick r:id="rId2"/>
              </a:rPr>
              <a:t>trained</a:t>
            </a:r>
            <a:r>
              <a:rPr dirty="0" sz="1100" spc="5">
                <a:latin typeface="Arial MT"/>
                <a:cs typeface="Arial MT"/>
                <a:hlinkClick r:id="rId2"/>
              </a:rPr>
              <a:t> </a:t>
            </a:r>
            <a:r>
              <a:rPr dirty="0" sz="1100" spc="-10">
                <a:latin typeface="Arial MT"/>
                <a:cs typeface="Arial MT"/>
                <a:hlinkClick r:id="rId2"/>
              </a:rPr>
              <a:t>version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powered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pytorch.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35">
                <a:latin typeface="Arial MT"/>
                <a:cs typeface="Arial MT"/>
              </a:rPr>
              <a:t>model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14">
                <a:latin typeface="Arial MT"/>
                <a:cs typeface="Arial MT"/>
              </a:rPr>
              <a:t>uses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ResNet101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backbone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is trained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  <a:hlinkClick r:id="rId3"/>
              </a:rPr>
              <a:t>Pascal</a:t>
            </a:r>
            <a:r>
              <a:rPr dirty="0" sz="1100">
                <a:latin typeface="Arial MT"/>
                <a:cs typeface="Arial MT"/>
                <a:hlinkClick r:id="rId3"/>
              </a:rPr>
              <a:t> </a:t>
            </a:r>
            <a:r>
              <a:rPr dirty="0" sz="1100" spc="-50">
                <a:latin typeface="Arial MT"/>
                <a:cs typeface="Arial MT"/>
                <a:hlinkClick r:id="rId3"/>
              </a:rPr>
              <a:t>VOC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dataset,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 </a:t>
            </a:r>
            <a:r>
              <a:rPr dirty="0" sz="1100" spc="-40">
                <a:latin typeface="Arial MT"/>
                <a:cs typeface="Arial MT"/>
              </a:rPr>
              <a:t>therefore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able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classify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20 </a:t>
            </a:r>
            <a:r>
              <a:rPr dirty="0" sz="1100" spc="-20">
                <a:latin typeface="Arial MT"/>
                <a:cs typeface="Arial MT"/>
              </a:rPr>
              <a:t>different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classes;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these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classes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fairly </a:t>
            </a:r>
            <a:r>
              <a:rPr dirty="0" sz="1100" spc="-35">
                <a:latin typeface="Arial MT"/>
                <a:cs typeface="Arial MT"/>
              </a:rPr>
              <a:t>wide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common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categories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like </a:t>
            </a:r>
            <a:r>
              <a:rPr dirty="0" sz="1100">
                <a:latin typeface="Arial MT"/>
                <a:cs typeface="Arial MT"/>
              </a:rPr>
              <a:t>cat,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dog,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sofa,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car,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etc...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CLIP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98396"/>
            <a:ext cx="4356735" cy="12242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20">
                <a:latin typeface="Arial MT"/>
                <a:cs typeface="Arial MT"/>
                <a:hlinkClick r:id="rId2"/>
              </a:rPr>
              <a:t>CLIP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model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architecture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trained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with</a:t>
            </a:r>
            <a:r>
              <a:rPr dirty="0" sz="1100" spc="-10">
                <a:latin typeface="Arial MT"/>
                <a:cs typeface="Arial MT"/>
              </a:rPr>
              <a:t> language </a:t>
            </a:r>
            <a:r>
              <a:rPr dirty="0" sz="1100" spc="-55">
                <a:latin typeface="Arial MT"/>
                <a:cs typeface="Arial MT"/>
              </a:rPr>
              <a:t>supervision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OpenAI.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big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difference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between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CLIP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other </a:t>
            </a:r>
            <a:r>
              <a:rPr dirty="0" sz="1100" spc="-40">
                <a:latin typeface="Arial MT"/>
                <a:cs typeface="Arial MT"/>
              </a:rPr>
              <a:t>architectures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>
                <a:latin typeface="Arial MT"/>
                <a:cs typeface="Arial MT"/>
              </a:rPr>
              <a:t> the </a:t>
            </a:r>
            <a:r>
              <a:rPr dirty="0" sz="1100" spc="-65">
                <a:latin typeface="Arial MT"/>
                <a:cs typeface="Arial MT"/>
              </a:rPr>
              <a:t>way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 </a:t>
            </a:r>
            <a:r>
              <a:rPr dirty="0" sz="1100" spc="-30">
                <a:latin typeface="Arial MT"/>
                <a:cs typeface="Arial MT"/>
              </a:rPr>
              <a:t>which</a:t>
            </a:r>
            <a:r>
              <a:rPr dirty="0" sz="1100">
                <a:latin typeface="Arial MT"/>
                <a:cs typeface="Arial MT"/>
              </a:rPr>
              <a:t> it </a:t>
            </a:r>
            <a:r>
              <a:rPr dirty="0" sz="1100" spc="-105">
                <a:latin typeface="Arial MT"/>
                <a:cs typeface="Arial MT"/>
              </a:rPr>
              <a:t>was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trained.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Normally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convolutional </a:t>
            </a:r>
            <a:r>
              <a:rPr dirty="0" sz="1100" spc="-50">
                <a:latin typeface="Arial MT"/>
                <a:cs typeface="Arial MT"/>
              </a:rPr>
              <a:t>networks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trained</a:t>
            </a:r>
            <a:r>
              <a:rPr dirty="0" sz="1100">
                <a:latin typeface="Arial MT"/>
                <a:cs typeface="Arial MT"/>
              </a:rPr>
              <a:t> with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</a:t>
            </a:r>
            <a:r>
              <a:rPr dirty="0" sz="1100">
                <a:latin typeface="Arial MT"/>
                <a:cs typeface="Arial MT"/>
              </a:rPr>
              <a:t> 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form 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(</a:t>
            </a:r>
            <a:r>
              <a:rPr dirty="0" sz="1100" spc="-30" i="1">
                <a:latin typeface="Trebuchet MS"/>
                <a:cs typeface="Trebuchet MS"/>
              </a:rPr>
              <a:t>image</a:t>
            </a:r>
            <a:r>
              <a:rPr dirty="0" sz="1100" spc="-3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30" i="1">
                <a:latin typeface="Trebuchet MS"/>
                <a:cs typeface="Trebuchet MS"/>
              </a:rPr>
              <a:t>target</a:t>
            </a:r>
            <a:r>
              <a:rPr dirty="0" sz="1100" spc="-30">
                <a:latin typeface="Arial MT"/>
                <a:cs typeface="Arial MT"/>
              </a:rPr>
              <a:t>)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where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10">
                <a:latin typeface="Arial MT"/>
                <a:cs typeface="Arial MT"/>
              </a:rPr>
              <a:t>target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range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categorical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label,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numerical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value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even </a:t>
            </a:r>
            <a:r>
              <a:rPr dirty="0" sz="1100" spc="-30">
                <a:latin typeface="Arial MT"/>
                <a:cs typeface="Arial MT"/>
              </a:rPr>
              <a:t>another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>
                <a:latin typeface="Arial MT"/>
                <a:cs typeface="Arial MT"/>
              </a:rPr>
              <a:t> (think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about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denoising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process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example,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we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input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in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7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model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5">
                <a:latin typeface="Arial MT"/>
                <a:cs typeface="Arial MT"/>
              </a:rPr>
              <a:t>noisy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image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we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give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14">
                <a:latin typeface="Arial MT"/>
                <a:cs typeface="Arial MT"/>
              </a:rPr>
              <a:t>as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10">
                <a:latin typeface="Arial MT"/>
                <a:cs typeface="Arial MT"/>
              </a:rPr>
              <a:t>target</a:t>
            </a:r>
            <a:r>
              <a:rPr dirty="0" sz="1100">
                <a:latin typeface="Arial MT"/>
                <a:cs typeface="Arial MT"/>
              </a:rPr>
              <a:t> its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denoised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version!).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CLIP</a:t>
            </a:r>
            <a:r>
              <a:rPr dirty="0" spc="45"/>
              <a:t> </a:t>
            </a:r>
            <a:r>
              <a:rPr dirty="0"/>
              <a:t>-</a:t>
            </a:r>
            <a:r>
              <a:rPr dirty="0" spc="50"/>
              <a:t> </a:t>
            </a:r>
            <a:r>
              <a:rPr dirty="0" spc="-30"/>
              <a:t>Training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96568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5074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32850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20"/>
              <a:t>CLIP</a:t>
            </a:r>
            <a:r>
              <a:rPr dirty="0" spc="-30"/>
              <a:t> </a:t>
            </a:r>
            <a:r>
              <a:rPr dirty="0" spc="-10"/>
              <a:t>is</a:t>
            </a:r>
            <a:r>
              <a:rPr dirty="0" spc="-30"/>
              <a:t> </a:t>
            </a:r>
            <a:r>
              <a:rPr dirty="0" spc="-40"/>
              <a:t>instead</a:t>
            </a:r>
            <a:r>
              <a:rPr dirty="0" spc="-30"/>
              <a:t> </a:t>
            </a:r>
            <a:r>
              <a:rPr dirty="0" spc="-25"/>
              <a:t>trained by:</a:t>
            </a:r>
          </a:p>
          <a:p>
            <a:pPr marL="289560" marR="53340">
              <a:lnSpc>
                <a:spcPct val="102600"/>
              </a:lnSpc>
              <a:spcBef>
                <a:spcPts val="300"/>
              </a:spcBef>
            </a:pPr>
            <a:r>
              <a:rPr dirty="0" spc="-30"/>
              <a:t>Taking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35"/>
              <a:t>vision</a:t>
            </a:r>
            <a:r>
              <a:rPr dirty="0" spc="-5"/>
              <a:t> </a:t>
            </a:r>
            <a:r>
              <a:rPr dirty="0" spc="-35"/>
              <a:t>architecture</a:t>
            </a:r>
            <a:r>
              <a:rPr dirty="0" spc="-5"/>
              <a:t> </a:t>
            </a:r>
            <a:r>
              <a:rPr dirty="0" spc="-50"/>
              <a:t>pre-</a:t>
            </a:r>
            <a:r>
              <a:rPr dirty="0" spc="-25"/>
              <a:t>trained</a:t>
            </a:r>
            <a:r>
              <a:rPr dirty="0" spc="-5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40"/>
              <a:t>classification</a:t>
            </a:r>
            <a:r>
              <a:rPr dirty="0" spc="-5"/>
              <a:t> </a:t>
            </a:r>
            <a:r>
              <a:rPr dirty="0" spc="-80"/>
              <a:t>class</a:t>
            </a:r>
            <a:r>
              <a:rPr dirty="0" spc="5"/>
              <a:t> </a:t>
            </a:r>
            <a:r>
              <a:rPr dirty="0" spc="-25"/>
              <a:t>and </a:t>
            </a:r>
            <a:r>
              <a:rPr dirty="0" spc="-45"/>
              <a:t>removing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40"/>
              <a:t>classification</a:t>
            </a:r>
            <a:r>
              <a:rPr dirty="0" spc="20"/>
              <a:t> </a:t>
            </a:r>
            <a:r>
              <a:rPr dirty="0" spc="-65"/>
              <a:t>head</a:t>
            </a:r>
            <a:r>
              <a:rPr dirty="0" spc="25"/>
              <a:t> </a:t>
            </a:r>
            <a:r>
              <a:rPr dirty="0"/>
              <a:t>(output)</a:t>
            </a:r>
            <a:r>
              <a:rPr dirty="0" spc="20"/>
              <a:t> </a:t>
            </a:r>
            <a:r>
              <a:rPr dirty="0"/>
              <a:t>from</a:t>
            </a:r>
            <a:r>
              <a:rPr dirty="0" spc="25"/>
              <a:t> </a:t>
            </a:r>
            <a:r>
              <a:rPr dirty="0"/>
              <a:t>it.</a:t>
            </a:r>
            <a:r>
              <a:rPr dirty="0" spc="125"/>
              <a:t> </a:t>
            </a:r>
            <a:r>
              <a:rPr dirty="0" spc="-10"/>
              <a:t>This</a:t>
            </a:r>
            <a:r>
              <a:rPr dirty="0" spc="20"/>
              <a:t> </a:t>
            </a:r>
            <a:r>
              <a:rPr dirty="0" spc="-10"/>
              <a:t>is</a:t>
            </a:r>
            <a:r>
              <a:rPr dirty="0" spc="25"/>
              <a:t> </a:t>
            </a:r>
            <a:r>
              <a:rPr dirty="0" spc="-10"/>
              <a:t>called </a:t>
            </a:r>
            <a:r>
              <a:rPr dirty="0" spc="-10" b="1">
                <a:latin typeface="Arial"/>
                <a:cs typeface="Arial"/>
              </a:rPr>
              <a:t>Image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Encoder</a:t>
            </a:r>
          </a:p>
          <a:p>
            <a:pPr marL="289560" marR="5080">
              <a:lnSpc>
                <a:spcPct val="102699"/>
              </a:lnSpc>
              <a:spcBef>
                <a:spcPts val="295"/>
              </a:spcBef>
            </a:pPr>
            <a:r>
              <a:rPr dirty="0" spc="-30"/>
              <a:t>Taking</a:t>
            </a:r>
            <a:r>
              <a:rPr dirty="0"/>
              <a:t> a</a:t>
            </a:r>
            <a:r>
              <a:rPr dirty="0" spc="5"/>
              <a:t> </a:t>
            </a:r>
            <a:r>
              <a:rPr dirty="0"/>
              <a:t>text</a:t>
            </a:r>
            <a:r>
              <a:rPr dirty="0" spc="10"/>
              <a:t> </a:t>
            </a:r>
            <a:r>
              <a:rPr dirty="0" spc="-50"/>
              <a:t>encoder,</a:t>
            </a:r>
            <a:r>
              <a:rPr dirty="0" spc="5"/>
              <a:t> </a:t>
            </a:r>
            <a:r>
              <a:rPr dirty="0" spc="-85"/>
              <a:t>so</a:t>
            </a:r>
            <a:r>
              <a:rPr dirty="0" spc="10"/>
              <a:t> </a:t>
            </a:r>
            <a:r>
              <a:rPr dirty="0" spc="-20"/>
              <a:t>an</a:t>
            </a:r>
            <a:r>
              <a:rPr dirty="0" spc="5"/>
              <a:t> </a:t>
            </a:r>
            <a:r>
              <a:rPr dirty="0" spc="-35"/>
              <a:t>architecture</a:t>
            </a:r>
            <a:r>
              <a:rPr dirty="0" spc="10"/>
              <a:t> </a:t>
            </a:r>
            <a:r>
              <a:rPr dirty="0"/>
              <a:t>that</a:t>
            </a:r>
            <a:r>
              <a:rPr dirty="0" spc="5"/>
              <a:t> </a:t>
            </a:r>
            <a:r>
              <a:rPr dirty="0" spc="-50"/>
              <a:t>given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/>
              <a:t>text</a:t>
            </a:r>
            <a:r>
              <a:rPr dirty="0" spc="5"/>
              <a:t> </a:t>
            </a:r>
            <a:r>
              <a:rPr dirty="0" spc="-30"/>
              <a:t>returns</a:t>
            </a:r>
            <a:r>
              <a:rPr dirty="0" spc="5"/>
              <a:t> </a:t>
            </a:r>
            <a:r>
              <a:rPr dirty="0" spc="-50"/>
              <a:t>a </a:t>
            </a:r>
            <a:r>
              <a:rPr dirty="0" spc="-30"/>
              <a:t>vector</a:t>
            </a:r>
            <a:r>
              <a:rPr dirty="0" spc="15"/>
              <a:t> </a:t>
            </a:r>
            <a:r>
              <a:rPr dirty="0" spc="-50"/>
              <a:t>representation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it.</a:t>
            </a:r>
          </a:p>
          <a:p>
            <a:pPr marL="289560" marR="272415">
              <a:lnSpc>
                <a:spcPct val="102600"/>
              </a:lnSpc>
              <a:spcBef>
                <a:spcPts val="300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 spc="-50"/>
              <a:t>image</a:t>
            </a:r>
            <a:r>
              <a:rPr dirty="0" spc="-15"/>
              <a:t> </a:t>
            </a:r>
            <a:r>
              <a:rPr dirty="0" spc="-60"/>
              <a:t>encoder</a:t>
            </a:r>
            <a:r>
              <a:rPr dirty="0" spc="-15"/>
              <a:t> </a:t>
            </a:r>
            <a:r>
              <a:rPr dirty="0" spc="-10"/>
              <a:t>is</a:t>
            </a:r>
            <a:r>
              <a:rPr dirty="0" spc="-20"/>
              <a:t> </a:t>
            </a:r>
            <a:r>
              <a:rPr dirty="0" spc="-10"/>
              <a:t>then</a:t>
            </a:r>
            <a:r>
              <a:rPr dirty="0" spc="-15"/>
              <a:t> </a:t>
            </a:r>
            <a:r>
              <a:rPr dirty="0" spc="-20"/>
              <a:t>trained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 spc="-45"/>
              <a:t>maximize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dot</a:t>
            </a:r>
            <a:r>
              <a:rPr dirty="0" spc="-15"/>
              <a:t> </a:t>
            </a:r>
            <a:r>
              <a:rPr dirty="0" spc="-10"/>
              <a:t>product </a:t>
            </a:r>
            <a:r>
              <a:rPr dirty="0" spc="-45"/>
              <a:t>(cosine</a:t>
            </a:r>
            <a:r>
              <a:rPr dirty="0" spc="-30"/>
              <a:t> </a:t>
            </a:r>
            <a:r>
              <a:rPr dirty="0" spc="-10"/>
              <a:t>similarity)</a:t>
            </a:r>
            <a:r>
              <a:rPr dirty="0" spc="-20"/>
              <a:t> </a:t>
            </a:r>
            <a:r>
              <a:rPr dirty="0" spc="-70"/>
              <a:t>between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50"/>
              <a:t>image</a:t>
            </a:r>
            <a:r>
              <a:rPr dirty="0" spc="-15"/>
              <a:t> </a:t>
            </a:r>
            <a:r>
              <a:rPr dirty="0" spc="-55"/>
              <a:t>embedding</a:t>
            </a:r>
            <a:r>
              <a:rPr dirty="0" spc="-20"/>
              <a:t> </a:t>
            </a:r>
            <a:r>
              <a:rPr dirty="0" spc="-45"/>
              <a:t>and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0"/>
              <a:t> text </a:t>
            </a:r>
            <a:r>
              <a:rPr dirty="0" spc="-10"/>
              <a:t>embedding.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20332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CLIP</a:t>
            </a:r>
            <a:r>
              <a:rPr dirty="0" sz="1400" spc="4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-</a:t>
            </a:r>
            <a:r>
              <a:rPr dirty="0" sz="1400" spc="50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2B864B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382145"/>
            <a:ext cx="3412843" cy="236373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731594" y="2948246"/>
            <a:ext cx="11449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3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CLIP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training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CLIP - Why </a:t>
            </a:r>
            <a:r>
              <a:rPr dirty="0" spc="-60"/>
              <a:t>use</a:t>
            </a:r>
            <a:r>
              <a:rPr dirty="0"/>
              <a:t> </a:t>
            </a:r>
            <a:r>
              <a:rPr dirty="0" spc="-25"/>
              <a:t>it?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001470"/>
            <a:ext cx="4329430" cy="12242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main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idea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>
                <a:latin typeface="Arial MT"/>
                <a:cs typeface="Arial MT"/>
              </a:rPr>
              <a:t> 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since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CLIP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trained</a:t>
            </a:r>
            <a:r>
              <a:rPr dirty="0" sz="1100">
                <a:latin typeface="Arial MT"/>
                <a:cs typeface="Arial MT"/>
              </a:rPr>
              <a:t> 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represent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way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maximizes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similarity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text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embeddings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should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be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able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 </a:t>
            </a:r>
            <a:r>
              <a:rPr dirty="0" sz="1100" spc="-20">
                <a:latin typeface="Arial MT"/>
                <a:cs typeface="Arial MT"/>
              </a:rPr>
              <a:t>internally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encode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semantic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meaning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behind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each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image.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For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example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sentences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”dogs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playing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beach”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”dogs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playing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park” </a:t>
            </a:r>
            <a:r>
              <a:rPr dirty="0" sz="1100" spc="-55">
                <a:latin typeface="Arial MT"/>
                <a:cs typeface="Arial MT"/>
              </a:rPr>
              <a:t>should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have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similar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text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embeddings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since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semantically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similar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therefore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CLIP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should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encode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”materialize”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these </a:t>
            </a:r>
            <a:r>
              <a:rPr dirty="0" sz="1100" spc="-85">
                <a:latin typeface="Arial MT"/>
                <a:cs typeface="Arial MT"/>
              </a:rPr>
              <a:t>sentences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similar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vectors,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achieving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meaningful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semantic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encoding.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Autoencoder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40"/>
              <a:t> </a:t>
            </a:r>
            <a:r>
              <a:rPr dirty="0" spc="80"/>
              <a:t>A</a:t>
            </a:r>
            <a:r>
              <a:rPr dirty="0" spc="-40"/>
              <a:t> </a:t>
            </a:r>
            <a:r>
              <a:rPr dirty="0" spc="-90"/>
              <a:t>way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 spc="-55"/>
              <a:t>encode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20"/>
              <a:t>content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25"/>
              <a:t>image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14996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457475"/>
            <a:ext cx="65265" cy="6526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405281"/>
            <a:ext cx="4356100" cy="26771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0891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CLIP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we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encode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semantic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value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each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image,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encode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10">
                <a:latin typeface="Arial MT"/>
                <a:cs typeface="Arial MT"/>
              </a:rPr>
              <a:t>content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decided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common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model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architecture </a:t>
            </a:r>
            <a:r>
              <a:rPr dirty="0" sz="1100" spc="-40">
                <a:latin typeface="Arial MT"/>
                <a:cs typeface="Arial MT"/>
              </a:rPr>
              <a:t>called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 b="1">
                <a:latin typeface="Arial"/>
                <a:cs typeface="Arial"/>
              </a:rPr>
              <a:t>autoencoder</a:t>
            </a:r>
            <a:r>
              <a:rPr dirty="0" sz="1100" spc="-35">
                <a:latin typeface="Arial MT"/>
                <a:cs typeface="Arial MT"/>
              </a:rPr>
              <a:t>.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autoencoder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 </a:t>
            </a:r>
            <a:r>
              <a:rPr dirty="0" sz="1100" spc="-40">
                <a:latin typeface="Arial MT"/>
                <a:cs typeface="Arial MT"/>
              </a:rPr>
              <a:t>neural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architecture</a:t>
            </a:r>
            <a:r>
              <a:rPr dirty="0" sz="1100">
                <a:latin typeface="Arial MT"/>
                <a:cs typeface="Arial MT"/>
              </a:rPr>
              <a:t> that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is </a:t>
            </a:r>
            <a:r>
              <a:rPr dirty="0" sz="1100" spc="-75">
                <a:latin typeface="Arial MT"/>
                <a:cs typeface="Arial MT"/>
              </a:rPr>
              <a:t>composed</a:t>
            </a:r>
            <a:r>
              <a:rPr dirty="0" sz="1100">
                <a:latin typeface="Arial MT"/>
                <a:cs typeface="Arial MT"/>
              </a:rPr>
              <a:t> 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 b="1">
                <a:latin typeface="Arial"/>
                <a:cs typeface="Arial"/>
              </a:rPr>
              <a:t>Encoder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 b="1">
                <a:latin typeface="Arial"/>
                <a:cs typeface="Arial"/>
              </a:rPr>
              <a:t>Decoder</a:t>
            </a:r>
            <a:r>
              <a:rPr dirty="0" sz="1100" spc="-1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encoder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gradually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elaborates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through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convolutions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learnt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3x3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kernels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and,</a:t>
            </a:r>
            <a:r>
              <a:rPr dirty="0" sz="1100">
                <a:latin typeface="Arial MT"/>
                <a:cs typeface="Arial MT"/>
              </a:rPr>
              <a:t> 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each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step,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downsamples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30">
                <a:latin typeface="Arial MT"/>
                <a:cs typeface="Arial MT"/>
              </a:rPr>
              <a:t>resulting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activations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2x2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max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pooling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kernels.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process </a:t>
            </a:r>
            <a:r>
              <a:rPr dirty="0" sz="1100" spc="-45">
                <a:latin typeface="Arial MT"/>
                <a:cs typeface="Arial MT"/>
              </a:rPr>
              <a:t>continues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until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desired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dimension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reached.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my </a:t>
            </a:r>
            <a:r>
              <a:rPr dirty="0" sz="1100" spc="-30">
                <a:latin typeface="Arial MT"/>
                <a:cs typeface="Arial MT"/>
              </a:rPr>
              <a:t>implementation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encoder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encodes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original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3x64x64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into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4x16x16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tensor.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tensor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flattened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obtain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final </a:t>
            </a:r>
            <a:r>
              <a:rPr dirty="0" sz="1100" spc="-65">
                <a:latin typeface="Arial MT"/>
                <a:cs typeface="Arial MT"/>
              </a:rPr>
              <a:t>1024-</a:t>
            </a:r>
            <a:r>
              <a:rPr dirty="0" sz="1100">
                <a:latin typeface="Arial MT"/>
                <a:cs typeface="Arial MT"/>
              </a:rPr>
              <a:t>d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embeddings.</a:t>
            </a:r>
            <a:endParaRPr sz="1100">
              <a:latin typeface="Arial MT"/>
              <a:cs typeface="Arial MT"/>
            </a:endParaRPr>
          </a:p>
          <a:p>
            <a:pPr marL="289560" marR="4127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decoder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tasked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perform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opposite</a:t>
            </a:r>
            <a:r>
              <a:rPr dirty="0" sz="1100" spc="-20">
                <a:latin typeface="Arial MT"/>
                <a:cs typeface="Arial MT"/>
              </a:rPr>
              <a:t> operation: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starting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3x16x16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feature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map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must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reconstruct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original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image by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upsampling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 input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using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55" b="1">
                <a:latin typeface="Arial"/>
                <a:cs typeface="Arial"/>
              </a:rPr>
              <a:t>transposed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convolutions</a:t>
            </a:r>
            <a:r>
              <a:rPr dirty="0" sz="1100" spc="-50">
                <a:latin typeface="Arial MT"/>
                <a:cs typeface="Arial MT"/>
              </a:rPr>
              <a:t>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be </a:t>
            </a:r>
            <a:r>
              <a:rPr dirty="0" sz="1100" spc="-110">
                <a:latin typeface="Arial MT"/>
                <a:cs typeface="Arial MT"/>
              </a:rPr>
              <a:t>seen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”learnt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upsampling”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205803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2B864B"/>
                </a:solidFill>
                <a:latin typeface="Tahoma"/>
                <a:cs typeface="Tahoma"/>
              </a:rPr>
              <a:t>Autoencoder </a:t>
            </a: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-</a:t>
            </a:r>
            <a:r>
              <a:rPr dirty="0" sz="1400" spc="-25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2B864B"/>
                </a:solidFill>
                <a:latin typeface="Tahoma"/>
                <a:cs typeface="Tahoma"/>
              </a:rPr>
              <a:t>Architecture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728747"/>
            <a:ext cx="4330668" cy="159481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20025" y="2444983"/>
            <a:ext cx="17678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Autoencoder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architecture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Autoencoder</a:t>
            </a:r>
            <a:r>
              <a:rPr dirty="0" spc="-80"/>
              <a:t> </a:t>
            </a:r>
            <a:r>
              <a:rPr dirty="0"/>
              <a:t>-</a:t>
            </a:r>
            <a:r>
              <a:rPr dirty="0" spc="-45"/>
              <a:t> </a:t>
            </a:r>
            <a:r>
              <a:rPr dirty="0" spc="-105"/>
              <a:t>Is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50"/>
              <a:t>decoder</a:t>
            </a:r>
            <a:r>
              <a:rPr dirty="0" spc="-40"/>
              <a:t> </a:t>
            </a:r>
            <a:r>
              <a:rPr dirty="0" spc="-55"/>
              <a:t>needed?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32648"/>
            <a:ext cx="4307840" cy="13963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67945">
              <a:lnSpc>
                <a:spcPct val="102600"/>
              </a:lnSpc>
              <a:spcBef>
                <a:spcPts val="55"/>
              </a:spcBef>
            </a:pPr>
            <a:r>
              <a:rPr dirty="0" sz="1100" spc="-20">
                <a:latin typeface="Arial MT"/>
                <a:cs typeface="Arial MT"/>
              </a:rPr>
              <a:t>Notice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 this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setup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only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needed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training</a:t>
            </a:r>
            <a:r>
              <a:rPr dirty="0" sz="1100">
                <a:latin typeface="Arial MT"/>
                <a:cs typeface="Arial MT"/>
              </a:rPr>
              <a:t> time,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where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we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feed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35">
                <a:latin typeface="Arial MT"/>
                <a:cs typeface="Arial MT"/>
              </a:rPr>
              <a:t>model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45">
                <a:latin typeface="Arial MT"/>
                <a:cs typeface="Arial MT"/>
              </a:rPr>
              <a:t> pairs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(</a:t>
            </a:r>
            <a:r>
              <a:rPr dirty="0" sz="1100" spc="-30" i="1">
                <a:latin typeface="Trebuchet MS"/>
                <a:cs typeface="Trebuchet MS"/>
              </a:rPr>
              <a:t>image</a:t>
            </a:r>
            <a:r>
              <a:rPr dirty="0" sz="1100" spc="-3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0" i="1">
                <a:latin typeface="Trebuchet MS"/>
                <a:cs typeface="Trebuchet MS"/>
              </a:rPr>
              <a:t>image</a:t>
            </a:r>
            <a:r>
              <a:rPr dirty="0" sz="1100" spc="-10">
                <a:latin typeface="Arial MT"/>
                <a:cs typeface="Arial MT"/>
              </a:rPr>
              <a:t>)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we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loss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function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55">
                <a:latin typeface="Arial MT"/>
                <a:cs typeface="Arial MT"/>
              </a:rPr>
              <a:t>pixel-</a:t>
            </a:r>
            <a:r>
              <a:rPr dirty="0" sz="1100" spc="-45">
                <a:latin typeface="Arial MT"/>
                <a:cs typeface="Arial MT"/>
              </a:rPr>
              <a:t>wise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mean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squared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error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between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25">
                <a:latin typeface="Arial MT"/>
                <a:cs typeface="Arial MT"/>
              </a:rPr>
              <a:t>original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40">
                <a:latin typeface="Arial MT"/>
                <a:cs typeface="Arial MT"/>
              </a:rPr>
              <a:t>reconstructed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one.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Once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training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ends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we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know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 </a:t>
            </a:r>
            <a:r>
              <a:rPr dirty="0" sz="1100" spc="-95">
                <a:latin typeface="Arial MT"/>
                <a:cs typeface="Arial MT"/>
              </a:rPr>
              <a:t>we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obtained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 </a:t>
            </a:r>
            <a:r>
              <a:rPr dirty="0" sz="1100" spc="-10">
                <a:latin typeface="Arial MT"/>
                <a:cs typeface="Arial MT"/>
              </a:rPr>
              <a:t>interal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representation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encode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original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well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enough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 </a:t>
            </a:r>
            <a:r>
              <a:rPr dirty="0" sz="1100" spc="-30">
                <a:latin typeface="Arial MT"/>
                <a:cs typeface="Arial MT"/>
              </a:rPr>
              <a:t>reconstruct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up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 </a:t>
            </a:r>
            <a:r>
              <a:rPr dirty="0" sz="1100" spc="-25">
                <a:latin typeface="Arial MT"/>
                <a:cs typeface="Arial MT"/>
              </a:rPr>
              <a:t>certain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degree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error.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Once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training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ends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60">
                <a:latin typeface="Arial MT"/>
                <a:cs typeface="Arial MT"/>
              </a:rPr>
              <a:t>decoder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therefore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 </a:t>
            </a:r>
            <a:r>
              <a:rPr dirty="0" sz="1100" spc="-90">
                <a:latin typeface="Arial MT"/>
                <a:cs typeface="Arial MT"/>
              </a:rPr>
              <a:t>needed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anymore!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we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just </a:t>
            </a: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encoder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 </a:t>
            </a:r>
            <a:r>
              <a:rPr dirty="0" sz="1100" spc="-25">
                <a:latin typeface="Arial MT"/>
                <a:cs typeface="Arial MT"/>
              </a:rPr>
              <a:t>map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input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image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1024-</a:t>
            </a:r>
            <a:r>
              <a:rPr dirty="0" sz="1100">
                <a:latin typeface="Arial MT"/>
                <a:cs typeface="Arial MT"/>
              </a:rPr>
              <a:t>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representation.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What’s</a:t>
            </a:r>
            <a:r>
              <a:rPr dirty="0" spc="-15"/>
              <a:t> </a:t>
            </a:r>
            <a:r>
              <a:rPr dirty="0" spc="-10"/>
              <a:t>FAISS?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773" y="450741"/>
            <a:ext cx="3336164" cy="23650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5844" y="2945471"/>
            <a:ext cx="424497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80">
                <a:latin typeface="Arial MT"/>
                <a:cs typeface="Arial MT"/>
                <a:hlinkClick r:id="rId3"/>
              </a:rPr>
              <a:t>FAISS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it’s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software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library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developed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Facebook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perform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similarity </a:t>
            </a:r>
            <a:r>
              <a:rPr dirty="0" sz="1100" spc="-80">
                <a:latin typeface="Arial MT"/>
                <a:cs typeface="Arial MT"/>
              </a:rPr>
              <a:t>search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efficiently.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FAISS</a:t>
            </a:r>
            <a:r>
              <a:rPr dirty="0" spc="-45"/>
              <a:t> </a:t>
            </a:r>
            <a:r>
              <a:rPr dirty="0"/>
              <a:t>-</a:t>
            </a:r>
            <a:r>
              <a:rPr dirty="0" spc="-45"/>
              <a:t> </a:t>
            </a:r>
            <a:r>
              <a:rPr dirty="0" spc="-20"/>
              <a:t>How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 spc="-60"/>
              <a:t>use</a:t>
            </a:r>
            <a:r>
              <a:rPr dirty="0" spc="-40"/>
              <a:t> </a:t>
            </a:r>
            <a:r>
              <a:rPr dirty="0" spc="-25"/>
              <a:t>it?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18234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28267"/>
            <a:ext cx="65265" cy="6526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980984"/>
            <a:ext cx="4281170" cy="12096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FAISS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you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need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create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index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specifying:</a:t>
            </a:r>
            <a:endParaRPr sz="1100">
              <a:latin typeface="Arial MT"/>
              <a:cs typeface="Arial MT"/>
            </a:endParaRPr>
          </a:p>
          <a:p>
            <a:pPr marL="289560" marR="183515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length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vectors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going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be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stored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index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distance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used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perform</a:t>
            </a:r>
            <a:r>
              <a:rPr dirty="0" sz="1100">
                <a:latin typeface="Arial MT"/>
                <a:cs typeface="Arial MT"/>
              </a:rPr>
              <a:t> the </a:t>
            </a:r>
            <a:r>
              <a:rPr dirty="0" sz="1100" spc="-10">
                <a:latin typeface="Arial MT"/>
                <a:cs typeface="Arial MT"/>
              </a:rPr>
              <a:t>search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65">
                <a:latin typeface="Arial MT"/>
                <a:cs typeface="Arial MT"/>
              </a:rPr>
              <a:t>Once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index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 </a:t>
            </a:r>
            <a:r>
              <a:rPr dirty="0" sz="1100" spc="-20">
                <a:latin typeface="Arial MT"/>
                <a:cs typeface="Arial MT"/>
              </a:rPr>
              <a:t>initialized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index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be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queried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any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number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of </a:t>
            </a:r>
            <a:r>
              <a:rPr dirty="0" sz="1100" spc="-45">
                <a:latin typeface="Arial MT"/>
                <a:cs typeface="Arial MT"/>
              </a:rPr>
              <a:t>vectors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library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will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return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pair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arrays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contains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35">
                <a:latin typeface="Arial MT"/>
                <a:cs typeface="Arial MT"/>
              </a:rPr>
              <a:t>retrieved </a:t>
            </a:r>
            <a:r>
              <a:rPr dirty="0" sz="1100" spc="-75">
                <a:latin typeface="Arial MT"/>
                <a:cs typeface="Arial MT"/>
              </a:rPr>
              <a:t>indexes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distances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query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vector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respctively.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FAISS</a:t>
            </a:r>
            <a:r>
              <a:rPr dirty="0" spc="-75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20"/>
              <a:t>How</a:t>
            </a:r>
            <a:r>
              <a:rPr dirty="0" spc="-60"/>
              <a:t> are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45"/>
              <a:t>vectors</a:t>
            </a:r>
            <a:r>
              <a:rPr dirty="0" spc="-65"/>
              <a:t> </a:t>
            </a:r>
            <a:r>
              <a:rPr dirty="0" spc="-40"/>
              <a:t>indexed?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46162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1202" rIns="0" bIns="0" rtlCol="0" vert="horz">
            <a:spAutoFit/>
          </a:bodyPr>
          <a:lstStyle/>
          <a:p>
            <a:pPr marL="289560" marR="409575">
              <a:lnSpc>
                <a:spcPct val="102699"/>
              </a:lnSpc>
              <a:spcBef>
                <a:spcPts val="55"/>
              </a:spcBef>
            </a:pPr>
            <a:r>
              <a:rPr dirty="0"/>
              <a:t>The</a:t>
            </a:r>
            <a:r>
              <a:rPr dirty="0" spc="-10"/>
              <a:t> </a:t>
            </a:r>
            <a:r>
              <a:rPr dirty="0" spc="-45"/>
              <a:t>semantic</a:t>
            </a:r>
            <a:r>
              <a:rPr dirty="0" spc="-10"/>
              <a:t> </a:t>
            </a:r>
            <a:r>
              <a:rPr dirty="0" spc="-45"/>
              <a:t>vectors</a:t>
            </a:r>
            <a:r>
              <a:rPr dirty="0" spc="-5"/>
              <a:t> </a:t>
            </a:r>
            <a:r>
              <a:rPr dirty="0" spc="-60"/>
              <a:t>are</a:t>
            </a:r>
            <a:r>
              <a:rPr dirty="0" spc="-10"/>
              <a:t> </a:t>
            </a:r>
            <a:r>
              <a:rPr dirty="0" spc="-50"/>
              <a:t>normalized</a:t>
            </a:r>
            <a:r>
              <a:rPr dirty="0" spc="-5"/>
              <a:t> </a:t>
            </a:r>
            <a:r>
              <a:rPr dirty="0" spc="-45"/>
              <a:t>and</a:t>
            </a:r>
            <a:r>
              <a:rPr dirty="0" spc="-10"/>
              <a:t> </a:t>
            </a:r>
            <a:r>
              <a:rPr dirty="0" spc="-65"/>
              <a:t>indexed</a:t>
            </a:r>
            <a:r>
              <a:rPr dirty="0" spc="-5"/>
              <a:t> </a:t>
            </a:r>
            <a:r>
              <a:rPr dirty="0"/>
              <a:t>with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25" b="1">
                <a:latin typeface="Arial"/>
                <a:cs typeface="Arial"/>
              </a:rPr>
              <a:t>L2 </a:t>
            </a:r>
            <a:r>
              <a:rPr dirty="0" spc="-10" b="1">
                <a:latin typeface="Arial"/>
                <a:cs typeface="Arial"/>
              </a:rPr>
              <a:t>distance</a:t>
            </a:r>
            <a:r>
              <a:rPr dirty="0" spc="-10"/>
              <a:t>.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/>
              <a:t>The</a:t>
            </a:r>
            <a:r>
              <a:rPr dirty="0" spc="-10"/>
              <a:t> content </a:t>
            </a:r>
            <a:r>
              <a:rPr dirty="0" spc="-45"/>
              <a:t>vectors</a:t>
            </a:r>
            <a:r>
              <a:rPr dirty="0" spc="-5"/>
              <a:t> </a:t>
            </a:r>
            <a:r>
              <a:rPr dirty="0" spc="-60"/>
              <a:t>are</a:t>
            </a:r>
            <a:r>
              <a:rPr dirty="0" spc="-10"/>
              <a:t> </a:t>
            </a:r>
            <a:r>
              <a:rPr dirty="0" spc="-50"/>
              <a:t>normalized</a:t>
            </a:r>
            <a:r>
              <a:rPr dirty="0" spc="-5"/>
              <a:t> </a:t>
            </a:r>
            <a:r>
              <a:rPr dirty="0" spc="-45"/>
              <a:t>and</a:t>
            </a:r>
            <a:r>
              <a:rPr dirty="0" spc="-10"/>
              <a:t> </a:t>
            </a:r>
            <a:r>
              <a:rPr dirty="0" spc="-65"/>
              <a:t>indexed</a:t>
            </a:r>
            <a:r>
              <a:rPr dirty="0" spc="-5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 b="1">
                <a:latin typeface="Arial"/>
                <a:cs typeface="Arial"/>
              </a:rPr>
              <a:t>L1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35" b="1">
                <a:latin typeface="Arial"/>
                <a:cs typeface="Arial"/>
              </a:rPr>
              <a:t>distance</a:t>
            </a:r>
            <a:r>
              <a:rPr dirty="0" spc="-35"/>
              <a:t>.</a:t>
            </a:r>
            <a:r>
              <a:rPr dirty="0" spc="90"/>
              <a:t> </a:t>
            </a:r>
            <a:r>
              <a:rPr dirty="0" spc="-50"/>
              <a:t>I </a:t>
            </a:r>
            <a:r>
              <a:rPr dirty="0" spc="-65"/>
              <a:t>decided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100"/>
              <a:t>use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L1</a:t>
            </a:r>
            <a:r>
              <a:rPr dirty="0" spc="5"/>
              <a:t> </a:t>
            </a:r>
            <a:r>
              <a:rPr dirty="0" spc="-25"/>
              <a:t>norm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 spc="-70"/>
              <a:t>reduce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20"/>
              <a:t>effect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the </a:t>
            </a:r>
            <a:r>
              <a:rPr dirty="0" spc="-10"/>
              <a:t>sparsity </a:t>
            </a:r>
            <a:r>
              <a:rPr dirty="0" spc="-45"/>
              <a:t>induced</a:t>
            </a:r>
            <a:r>
              <a:rPr dirty="0" spc="5"/>
              <a:t> </a:t>
            </a:r>
            <a:r>
              <a:rPr dirty="0" spc="-10"/>
              <a:t>by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55"/>
              <a:t>dimension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55"/>
              <a:t>vectors</a:t>
            </a:r>
            <a:r>
              <a:rPr dirty="0" spc="10"/>
              <a:t> </a:t>
            </a:r>
            <a:r>
              <a:rPr dirty="0" spc="-75"/>
              <a:t>themselves</a:t>
            </a:r>
            <a:r>
              <a:rPr dirty="0" spc="10"/>
              <a:t> </a:t>
            </a:r>
            <a:r>
              <a:rPr dirty="0"/>
              <a:t>that</a:t>
            </a:r>
            <a:r>
              <a:rPr dirty="0" spc="5"/>
              <a:t> </a:t>
            </a:r>
            <a:r>
              <a:rPr dirty="0" spc="-10"/>
              <a:t>resulted </a:t>
            </a:r>
            <a:r>
              <a:rPr dirty="0" spc="-80"/>
              <a:t>always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 spc="-35"/>
              <a:t>very</a:t>
            </a:r>
            <a:r>
              <a:rPr dirty="0" spc="5"/>
              <a:t> </a:t>
            </a:r>
            <a:r>
              <a:rPr dirty="0" spc="-45"/>
              <a:t>small</a:t>
            </a:r>
            <a:r>
              <a:rPr dirty="0" spc="10"/>
              <a:t> </a:t>
            </a:r>
            <a:r>
              <a:rPr dirty="0" spc="-55"/>
              <a:t>distances</a:t>
            </a:r>
            <a:r>
              <a:rPr dirty="0" spc="5"/>
              <a:t> </a:t>
            </a:r>
            <a:r>
              <a:rPr dirty="0"/>
              <a:t>if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L2</a:t>
            </a:r>
            <a:r>
              <a:rPr dirty="0" spc="10"/>
              <a:t> </a:t>
            </a:r>
            <a:r>
              <a:rPr dirty="0" spc="-50"/>
              <a:t>distance</a:t>
            </a:r>
            <a:r>
              <a:rPr dirty="0" spc="5"/>
              <a:t> </a:t>
            </a:r>
            <a:r>
              <a:rPr dirty="0" spc="-100"/>
              <a:t>was</a:t>
            </a:r>
            <a:r>
              <a:rPr dirty="0" spc="25"/>
              <a:t> </a:t>
            </a:r>
            <a:r>
              <a:rPr dirty="0" spc="-10"/>
              <a:t>used.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28267"/>
            <a:ext cx="65265" cy="6526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2777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Database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80"/>
              <a:t>necessary</a:t>
            </a:r>
            <a:r>
              <a:rPr dirty="0" spc="-15"/>
              <a:t> </a:t>
            </a:r>
            <a:r>
              <a:rPr dirty="0" spc="-10"/>
              <a:t>files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1745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730980" y="1349082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38007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412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 spc="-60"/>
              <a:t>database</a:t>
            </a:r>
            <a:r>
              <a:rPr dirty="0" spc="-5"/>
              <a:t> </a:t>
            </a:r>
            <a:r>
              <a:rPr dirty="0" spc="-100"/>
              <a:t>needs</a:t>
            </a:r>
            <a:r>
              <a:rPr dirty="0" spc="25"/>
              <a:t> </a:t>
            </a:r>
            <a:r>
              <a:rPr dirty="0"/>
              <a:t>3</a:t>
            </a:r>
            <a:r>
              <a:rPr dirty="0" spc="-5"/>
              <a:t> </a:t>
            </a:r>
            <a:r>
              <a:rPr dirty="0" spc="-30"/>
              <a:t>files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25"/>
              <a:t>work</a:t>
            </a:r>
            <a:r>
              <a:rPr dirty="0" spc="-5"/>
              <a:t> </a:t>
            </a:r>
            <a:r>
              <a:rPr dirty="0" spc="-10"/>
              <a:t>properly: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 b="1">
                <a:latin typeface="Arial"/>
                <a:cs typeface="Arial"/>
              </a:rPr>
              <a:t>The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path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spc="-35" b="1">
                <a:latin typeface="Arial"/>
                <a:cs typeface="Arial"/>
              </a:rPr>
              <a:t>index:</a:t>
            </a:r>
            <a:r>
              <a:rPr dirty="0" spc="110" b="1">
                <a:latin typeface="Arial"/>
                <a:cs typeface="Arial"/>
              </a:rPr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 spc="-25"/>
              <a:t>dictionary</a:t>
            </a:r>
            <a:r>
              <a:rPr dirty="0" spc="10"/>
              <a:t> </a:t>
            </a:r>
            <a:r>
              <a:rPr dirty="0"/>
              <a:t>that</a:t>
            </a:r>
            <a:r>
              <a:rPr dirty="0" spc="10"/>
              <a:t> </a:t>
            </a:r>
            <a:r>
              <a:rPr dirty="0" spc="-65"/>
              <a:t>stores</a:t>
            </a:r>
            <a:r>
              <a:rPr dirty="0" spc="10"/>
              <a:t> </a:t>
            </a:r>
            <a:r>
              <a:rPr dirty="0" spc="-35"/>
              <a:t>pairs</a:t>
            </a:r>
            <a:r>
              <a:rPr dirty="0" spc="10"/>
              <a:t> </a:t>
            </a:r>
            <a:r>
              <a:rPr dirty="0"/>
              <a:t>(</a:t>
            </a:r>
            <a:r>
              <a:rPr dirty="0" i="1">
                <a:latin typeface="Trebuchet MS"/>
                <a:cs typeface="Trebuchet MS"/>
              </a:rPr>
              <a:t>id</a:t>
            </a:r>
            <a:r>
              <a:rPr dirty="0" i="1">
                <a:latin typeface="Arial"/>
                <a:cs typeface="Arial"/>
              </a:rPr>
              <a:t>,</a:t>
            </a:r>
            <a:r>
              <a:rPr dirty="0" spc="-125" i="1">
                <a:latin typeface="Arial"/>
                <a:cs typeface="Arial"/>
              </a:rPr>
              <a:t> </a:t>
            </a:r>
            <a:r>
              <a:rPr dirty="0" spc="-10" i="1">
                <a:latin typeface="Trebuchet MS"/>
                <a:cs typeface="Trebuchet MS"/>
              </a:rPr>
              <a:t>path</a:t>
            </a:r>
            <a:r>
              <a:rPr dirty="0" spc="-10"/>
              <a:t>)</a:t>
            </a:r>
            <a:r>
              <a:rPr dirty="0" spc="5"/>
              <a:t> </a:t>
            </a:r>
            <a:r>
              <a:rPr dirty="0" spc="-75"/>
              <a:t>were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25"/>
              <a:t>id </a:t>
            </a:r>
            <a:r>
              <a:rPr dirty="0" spc="-10"/>
              <a:t>is</a:t>
            </a:r>
            <a:r>
              <a:rPr dirty="0"/>
              <a:t> the </a:t>
            </a:r>
            <a:r>
              <a:rPr dirty="0" spc="-10"/>
              <a:t>identifier</a:t>
            </a:r>
            <a:r>
              <a:rPr dirty="0"/>
              <a:t> </a:t>
            </a:r>
            <a:r>
              <a:rPr dirty="0" spc="-30"/>
              <a:t>integer</a:t>
            </a:r>
            <a:r>
              <a:rPr dirty="0"/>
              <a:t> </a:t>
            </a:r>
            <a:r>
              <a:rPr dirty="0" spc="-40"/>
              <a:t>number</a:t>
            </a:r>
            <a:r>
              <a:rPr dirty="0"/>
              <a:t> in the </a:t>
            </a:r>
            <a:r>
              <a:rPr dirty="0" spc="-60"/>
              <a:t>range</a:t>
            </a:r>
            <a:r>
              <a:rPr dirty="0"/>
              <a:t> </a:t>
            </a:r>
            <a:r>
              <a:rPr dirty="0" spc="180">
                <a:latin typeface="Calibri"/>
                <a:cs typeface="Calibri"/>
              </a:rPr>
              <a:t>[0,</a:t>
            </a:r>
            <a:r>
              <a:rPr dirty="0" spc="240">
                <a:latin typeface="Calibri"/>
                <a:cs typeface="Calibri"/>
              </a:rPr>
              <a:t> </a:t>
            </a:r>
            <a:r>
              <a:rPr dirty="0" spc="90">
                <a:latin typeface="Calibri"/>
                <a:cs typeface="Calibri"/>
              </a:rPr>
              <a:t>stored</a:t>
            </a:r>
            <a:r>
              <a:rPr dirty="0" spc="100">
                <a:latin typeface="Calibri"/>
                <a:cs typeface="Calibri"/>
              </a:rPr>
              <a:t> </a:t>
            </a:r>
            <a:r>
              <a:rPr dirty="0" spc="80">
                <a:latin typeface="Calibri"/>
                <a:cs typeface="Calibri"/>
              </a:rPr>
              <a:t>images-</a:t>
            </a:r>
            <a:r>
              <a:rPr dirty="0" spc="50">
                <a:latin typeface="Calibri"/>
                <a:cs typeface="Calibri"/>
              </a:rPr>
              <a:t>1]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path</a:t>
            </a:r>
            <a:r>
              <a:rPr dirty="0" spc="-25"/>
              <a:t> </a:t>
            </a:r>
            <a:r>
              <a:rPr dirty="0" spc="-10"/>
              <a:t>is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path</a:t>
            </a:r>
            <a:r>
              <a:rPr dirty="0" spc="-25"/>
              <a:t> </a:t>
            </a:r>
            <a:r>
              <a:rPr dirty="0" spc="-65"/>
              <a:t>where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50"/>
              <a:t>image</a:t>
            </a:r>
            <a:r>
              <a:rPr dirty="0" spc="-25"/>
              <a:t> </a:t>
            </a:r>
            <a:r>
              <a:rPr dirty="0" spc="-70" b="1">
                <a:latin typeface="Arial"/>
                <a:cs typeface="Arial"/>
              </a:rPr>
              <a:t>copy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60"/>
              <a:t>database</a:t>
            </a:r>
            <a:r>
              <a:rPr dirty="0" spc="-15"/>
              <a:t> </a:t>
            </a:r>
            <a:r>
              <a:rPr dirty="0" spc="-25"/>
              <a:t>is </a:t>
            </a:r>
            <a:r>
              <a:rPr dirty="0" spc="-10"/>
              <a:t>stored.</a:t>
            </a:r>
          </a:p>
          <a:p>
            <a:pPr marL="289560" marR="11430">
              <a:lnSpc>
                <a:spcPct val="102600"/>
              </a:lnSpc>
              <a:spcBef>
                <a:spcPts val="300"/>
              </a:spcBef>
            </a:pPr>
            <a:r>
              <a:rPr dirty="0" b="1">
                <a:latin typeface="Arial"/>
                <a:cs typeface="Arial"/>
              </a:rPr>
              <a:t>The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35" b="1">
                <a:latin typeface="Arial"/>
                <a:cs typeface="Arial"/>
              </a:rPr>
              <a:t>content</a:t>
            </a:r>
            <a:r>
              <a:rPr dirty="0" spc="-35" i="1">
                <a:latin typeface="Sitka Small"/>
                <a:cs typeface="Sitka Small"/>
              </a:rPr>
              <a:t>\</a:t>
            </a:r>
            <a:r>
              <a:rPr dirty="0" spc="-35" b="1">
                <a:latin typeface="Arial"/>
                <a:cs typeface="Arial"/>
              </a:rPr>
              <a:t>semantic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FAISS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55" b="1">
                <a:latin typeface="Arial"/>
                <a:cs typeface="Arial"/>
              </a:rPr>
              <a:t>indexes:</a:t>
            </a:r>
            <a:r>
              <a:rPr dirty="0" spc="95" b="1">
                <a:latin typeface="Arial"/>
                <a:cs typeface="Arial"/>
              </a:rPr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80"/>
              <a:t>FAISS</a:t>
            </a:r>
            <a:r>
              <a:rPr dirty="0" spc="5"/>
              <a:t> </a:t>
            </a:r>
            <a:r>
              <a:rPr dirty="0" spc="-60"/>
              <a:t>indexes,</a:t>
            </a:r>
            <a:r>
              <a:rPr dirty="0"/>
              <a:t> </a:t>
            </a:r>
            <a:r>
              <a:rPr dirty="0" spc="-20"/>
              <a:t>they </a:t>
            </a:r>
            <a:r>
              <a:rPr dirty="0" spc="-40"/>
              <a:t>store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45"/>
              <a:t>mapping</a:t>
            </a:r>
            <a:r>
              <a:rPr dirty="0"/>
              <a:t> (</a:t>
            </a:r>
            <a:r>
              <a:rPr dirty="0" i="1">
                <a:latin typeface="Trebuchet MS"/>
                <a:cs typeface="Trebuchet MS"/>
              </a:rPr>
              <a:t>id</a:t>
            </a:r>
            <a:r>
              <a:rPr dirty="0" i="1">
                <a:latin typeface="Arial"/>
                <a:cs typeface="Arial"/>
              </a:rPr>
              <a:t>,</a:t>
            </a:r>
            <a:r>
              <a:rPr dirty="0" spc="-125" i="1">
                <a:latin typeface="Arial"/>
                <a:cs typeface="Arial"/>
              </a:rPr>
              <a:t> </a:t>
            </a:r>
            <a:r>
              <a:rPr dirty="0" spc="-75" i="1">
                <a:latin typeface="Trebuchet MS"/>
                <a:cs typeface="Trebuchet MS"/>
              </a:rPr>
              <a:t>vector</a:t>
            </a:r>
            <a:r>
              <a:rPr dirty="0" spc="-215" i="1">
                <a:latin typeface="Trebuchet MS"/>
                <a:cs typeface="Trebuchet MS"/>
              </a:rPr>
              <a:t> </a:t>
            </a:r>
            <a:r>
              <a:rPr dirty="0" spc="55"/>
              <a:t>)</a:t>
            </a:r>
            <a:r>
              <a:rPr dirty="0"/>
              <a:t> </a:t>
            </a:r>
            <a:r>
              <a:rPr dirty="0" spc="-45"/>
              <a:t>and</a:t>
            </a:r>
            <a:r>
              <a:rPr dirty="0"/>
              <a:t> </a:t>
            </a:r>
            <a:r>
              <a:rPr dirty="0" spc="-10"/>
              <a:t>they</a:t>
            </a:r>
            <a:r>
              <a:rPr dirty="0" spc="-5"/>
              <a:t> </a:t>
            </a:r>
            <a:r>
              <a:rPr dirty="0" spc="-45"/>
              <a:t>can</a:t>
            </a:r>
            <a:r>
              <a:rPr dirty="0"/>
              <a:t> </a:t>
            </a:r>
            <a:r>
              <a:rPr dirty="0" spc="-30"/>
              <a:t>be</a:t>
            </a:r>
            <a:r>
              <a:rPr dirty="0"/>
              <a:t> </a:t>
            </a:r>
            <a:r>
              <a:rPr dirty="0" spc="-50"/>
              <a:t>queried</a:t>
            </a:r>
            <a:r>
              <a:rPr dirty="0" spc="-5"/>
              <a:t> </a:t>
            </a:r>
            <a:r>
              <a:rPr dirty="0"/>
              <a:t>for </a:t>
            </a:r>
            <a:r>
              <a:rPr dirty="0" spc="-10"/>
              <a:t>similarity </a:t>
            </a:r>
            <a:r>
              <a:rPr dirty="0" spc="-55"/>
              <a:t>search.</a:t>
            </a:r>
            <a:r>
              <a:rPr dirty="0" spc="5"/>
              <a:t> </a:t>
            </a:r>
            <a:r>
              <a:rPr dirty="0" spc="-45"/>
              <a:t>Clearly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i="1">
                <a:latin typeface="Trebuchet MS"/>
                <a:cs typeface="Trebuchet MS"/>
              </a:rPr>
              <a:t>id</a:t>
            </a:r>
            <a:r>
              <a:rPr dirty="0" spc="45" i="1">
                <a:latin typeface="Trebuchet MS"/>
                <a:cs typeface="Trebuchet MS"/>
              </a:rPr>
              <a:t> </a:t>
            </a:r>
            <a:r>
              <a:rPr dirty="0" spc="-85"/>
              <a:t>used</a:t>
            </a:r>
            <a:r>
              <a:rPr dirty="0" spc="10"/>
              <a:t> </a:t>
            </a:r>
            <a:r>
              <a:rPr dirty="0" spc="-10"/>
              <a:t>by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80"/>
              <a:t>FAISS</a:t>
            </a:r>
            <a:r>
              <a:rPr dirty="0" spc="5"/>
              <a:t> </a:t>
            </a:r>
            <a:r>
              <a:rPr dirty="0" spc="-75"/>
              <a:t>indexes</a:t>
            </a:r>
            <a:r>
              <a:rPr dirty="0"/>
              <a:t> </a:t>
            </a:r>
            <a:r>
              <a:rPr dirty="0" spc="-45"/>
              <a:t>and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65"/>
              <a:t>one</a:t>
            </a:r>
            <a:r>
              <a:rPr dirty="0" spc="-10"/>
              <a:t> </a:t>
            </a:r>
            <a:r>
              <a:rPr dirty="0" spc="-85"/>
              <a:t>used</a:t>
            </a:r>
            <a:r>
              <a:rPr dirty="0" spc="10"/>
              <a:t> </a:t>
            </a:r>
            <a:r>
              <a:rPr dirty="0" spc="-25"/>
              <a:t>by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path</a:t>
            </a:r>
            <a:r>
              <a:rPr dirty="0" spc="-30"/>
              <a:t> </a:t>
            </a:r>
            <a:r>
              <a:rPr dirty="0" spc="-50"/>
              <a:t>index</a:t>
            </a:r>
            <a:r>
              <a:rPr dirty="0" spc="-25"/>
              <a:t> </a:t>
            </a:r>
            <a:r>
              <a:rPr dirty="0" spc="-10"/>
              <a:t>is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same.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4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1482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Database</a:t>
            </a:r>
            <a:r>
              <a:rPr dirty="0" spc="-65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10"/>
              <a:t>Adding</a:t>
            </a:r>
            <a:r>
              <a:rPr dirty="0" spc="-60"/>
              <a:t> </a:t>
            </a:r>
            <a:r>
              <a:rPr dirty="0"/>
              <a:t>an</a:t>
            </a:r>
            <a:r>
              <a:rPr dirty="0" spc="-60"/>
              <a:t> </a:t>
            </a:r>
            <a:r>
              <a:rPr dirty="0" spc="-40"/>
              <a:t>image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8641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933513" y="1678051"/>
            <a:ext cx="43815" cy="0"/>
          </a:xfrm>
          <a:custGeom>
            <a:avLst/>
            <a:gdLst/>
            <a:ahLst/>
            <a:cxnLst/>
            <a:rect l="l" t="t" r="r" b="b"/>
            <a:pathLst>
              <a:path w="43815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04086" y="1678051"/>
            <a:ext cx="43815" cy="0"/>
          </a:xfrm>
          <a:custGeom>
            <a:avLst/>
            <a:gdLst/>
            <a:ahLst/>
            <a:cxnLst/>
            <a:rect l="l" t="t" r="r" b="b"/>
            <a:pathLst>
              <a:path w="43815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22818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2792336" y="1888083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04935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502321" y="2270201"/>
            <a:ext cx="43815" cy="0"/>
          </a:xfrm>
          <a:custGeom>
            <a:avLst/>
            <a:gdLst/>
            <a:ahLst/>
            <a:cxnLst/>
            <a:rect l="l" t="t" r="r" b="b"/>
            <a:pathLst>
              <a:path w="43815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772894" y="2270201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694635" y="2270201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470897" y="2270201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814203" y="2270201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1576" rIns="0" bIns="0" rtlCol="0" vert="horz">
            <a:spAutoFit/>
          </a:bodyPr>
          <a:lstStyle/>
          <a:p>
            <a:pPr marL="12700" marR="225425">
              <a:lnSpc>
                <a:spcPct val="102600"/>
              </a:lnSpc>
              <a:spcBef>
                <a:spcPts val="55"/>
              </a:spcBef>
            </a:pPr>
            <a:r>
              <a:rPr dirty="0" spc="-50"/>
              <a:t>When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65"/>
              <a:t>user</a:t>
            </a:r>
            <a:r>
              <a:rPr dirty="0" spc="-10"/>
              <a:t> </a:t>
            </a:r>
            <a:r>
              <a:rPr dirty="0" spc="-80"/>
              <a:t>decides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45"/>
              <a:t>add</a:t>
            </a:r>
            <a:r>
              <a:rPr dirty="0" spc="-10"/>
              <a:t> </a:t>
            </a:r>
            <a:r>
              <a:rPr dirty="0" spc="-20"/>
              <a:t>an</a:t>
            </a:r>
            <a:r>
              <a:rPr dirty="0" spc="-10"/>
              <a:t> </a:t>
            </a:r>
            <a:r>
              <a:rPr dirty="0" spc="-50"/>
              <a:t>image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60"/>
              <a:t>database</a:t>
            </a:r>
            <a:r>
              <a:rPr dirty="0" spc="-10"/>
              <a:t> </a:t>
            </a:r>
            <a:r>
              <a:rPr dirty="0" spc="-85"/>
              <a:t>goes</a:t>
            </a:r>
            <a:r>
              <a:rPr dirty="0" spc="10"/>
              <a:t> </a:t>
            </a:r>
            <a:r>
              <a:rPr dirty="0" spc="-10"/>
              <a:t>through</a:t>
            </a:r>
            <a:r>
              <a:rPr dirty="0" spc="-5"/>
              <a:t> </a:t>
            </a:r>
            <a:r>
              <a:rPr dirty="0" spc="-25"/>
              <a:t>the </a:t>
            </a:r>
            <a:r>
              <a:rPr dirty="0" spc="-30"/>
              <a:t>following</a:t>
            </a:r>
            <a:r>
              <a:rPr dirty="0" spc="5"/>
              <a:t> </a:t>
            </a:r>
            <a:r>
              <a:rPr dirty="0" spc="-10"/>
              <a:t>steps: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content </a:t>
            </a:r>
            <a:r>
              <a:rPr dirty="0" spc="-45"/>
              <a:t>and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45"/>
              <a:t>semantic</a:t>
            </a:r>
            <a:r>
              <a:rPr dirty="0" spc="-10"/>
              <a:t> </a:t>
            </a:r>
            <a:r>
              <a:rPr dirty="0" spc="-55"/>
              <a:t>representations</a:t>
            </a:r>
            <a:r>
              <a:rPr dirty="0" spc="-10"/>
              <a:t> </a:t>
            </a:r>
            <a:r>
              <a:rPr dirty="0" spc="-70"/>
              <a:t>are</a:t>
            </a:r>
            <a:r>
              <a:rPr dirty="0" spc="-5"/>
              <a:t> </a:t>
            </a:r>
            <a:r>
              <a:rPr dirty="0" spc="-65"/>
              <a:t>added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50"/>
              <a:t>FAISS </a:t>
            </a:r>
            <a:r>
              <a:rPr dirty="0" spc="-55"/>
              <a:t>indexes.</a:t>
            </a:r>
            <a:r>
              <a:rPr dirty="0" spc="100"/>
              <a:t> </a:t>
            </a:r>
            <a:r>
              <a:rPr dirty="0" spc="-20"/>
              <a:t>Notice</a:t>
            </a:r>
            <a:r>
              <a:rPr dirty="0" spc="5"/>
              <a:t> </a:t>
            </a:r>
            <a:r>
              <a:rPr dirty="0"/>
              <a:t>that</a:t>
            </a:r>
            <a:r>
              <a:rPr dirty="0" spc="5"/>
              <a:t> </a:t>
            </a:r>
            <a:r>
              <a:rPr dirty="0" spc="-10"/>
              <a:t>by</a:t>
            </a:r>
            <a:r>
              <a:rPr dirty="0" spc="5"/>
              <a:t> </a:t>
            </a:r>
            <a:r>
              <a:rPr dirty="0" spc="-20"/>
              <a:t>default</a:t>
            </a:r>
            <a:r>
              <a:rPr dirty="0" spc="5"/>
              <a:t> </a:t>
            </a:r>
            <a:r>
              <a:rPr dirty="0" spc="-80"/>
              <a:t>FAISS</a:t>
            </a:r>
            <a:r>
              <a:rPr dirty="0" spc="5"/>
              <a:t> </a:t>
            </a:r>
            <a:r>
              <a:rPr dirty="0" spc="-85"/>
              <a:t>assigns</a:t>
            </a:r>
            <a:r>
              <a:rPr dirty="0" spc="10"/>
              <a:t> </a:t>
            </a:r>
            <a:r>
              <a:rPr dirty="0" spc="-10"/>
              <a:t>them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id</a:t>
            </a:r>
            <a:r>
              <a:rPr dirty="0" spc="-55"/>
              <a:t> </a:t>
            </a:r>
            <a:r>
              <a:rPr dirty="0" spc="85">
                <a:latin typeface="Calibri"/>
                <a:cs typeface="Calibri"/>
              </a:rPr>
              <a:t>current</a:t>
            </a:r>
            <a:r>
              <a:rPr dirty="0" spc="8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max</a:t>
            </a:r>
            <a:r>
              <a:rPr dirty="0" spc="25">
                <a:latin typeface="Calibri"/>
                <a:cs typeface="Calibri"/>
              </a:rPr>
              <a:t> </a:t>
            </a:r>
            <a:r>
              <a:rPr dirty="0" spc="45">
                <a:latin typeface="Calibri"/>
                <a:cs typeface="Calibri"/>
              </a:rPr>
              <a:t>index+1</a:t>
            </a:r>
            <a:r>
              <a:rPr dirty="0" spc="45"/>
              <a:t>.</a:t>
            </a: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/>
              <a:t>The</a:t>
            </a:r>
            <a:r>
              <a:rPr dirty="0" spc="20"/>
              <a:t> </a:t>
            </a:r>
            <a:r>
              <a:rPr dirty="0" spc="-30"/>
              <a:t>original</a:t>
            </a:r>
            <a:r>
              <a:rPr dirty="0" spc="20"/>
              <a:t> </a:t>
            </a:r>
            <a:r>
              <a:rPr dirty="0" spc="-30"/>
              <a:t>files</a:t>
            </a:r>
            <a:r>
              <a:rPr dirty="0" spc="25"/>
              <a:t> </a:t>
            </a:r>
            <a:r>
              <a:rPr dirty="0" spc="-10"/>
              <a:t>is</a:t>
            </a:r>
            <a:r>
              <a:rPr dirty="0" spc="20"/>
              <a:t> </a:t>
            </a:r>
            <a:r>
              <a:rPr dirty="0" spc="-55"/>
              <a:t>copied</a:t>
            </a:r>
            <a:r>
              <a:rPr dirty="0" spc="20"/>
              <a:t> </a:t>
            </a:r>
            <a:r>
              <a:rPr dirty="0"/>
              <a:t>in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>
                <a:latin typeface="Calibri"/>
                <a:cs typeface="Calibri"/>
              </a:rPr>
              <a:t>dbs</a:t>
            </a:r>
            <a:r>
              <a:rPr dirty="0" i="1">
                <a:latin typeface="Sitka Small"/>
                <a:cs typeface="Sitka Small"/>
              </a:rPr>
              <a:t>\</a:t>
            </a:r>
            <a:r>
              <a:rPr dirty="0">
                <a:latin typeface="Calibri"/>
                <a:cs typeface="Calibri"/>
              </a:rPr>
              <a:t>db</a:t>
            </a:r>
            <a:r>
              <a:rPr dirty="0" spc="1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images</a:t>
            </a:r>
            <a:r>
              <a:rPr dirty="0" spc="80">
                <a:latin typeface="Calibri"/>
                <a:cs typeface="Calibri"/>
              </a:rPr>
              <a:t> </a:t>
            </a:r>
            <a:r>
              <a:rPr dirty="0" spc="-20"/>
              <a:t>folder,</a:t>
            </a:r>
            <a:r>
              <a:rPr dirty="0" spc="25"/>
              <a:t> </a:t>
            </a:r>
            <a:r>
              <a:rPr dirty="0"/>
              <a:t>this</a:t>
            </a:r>
            <a:r>
              <a:rPr dirty="0" spc="20"/>
              <a:t> </a:t>
            </a:r>
            <a:r>
              <a:rPr dirty="0" spc="-10"/>
              <a:t>is</a:t>
            </a:r>
            <a:r>
              <a:rPr dirty="0" spc="25"/>
              <a:t> </a:t>
            </a:r>
            <a:r>
              <a:rPr dirty="0" spc="-25"/>
              <a:t>to </a:t>
            </a:r>
            <a:r>
              <a:rPr dirty="0" spc="-45"/>
              <a:t>avoid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70"/>
              <a:t>user</a:t>
            </a:r>
            <a:r>
              <a:rPr dirty="0" spc="-5"/>
              <a:t> </a:t>
            </a:r>
            <a:r>
              <a:rPr dirty="0" spc="-35"/>
              <a:t>deleting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25"/>
              <a:t>original</a:t>
            </a:r>
            <a:r>
              <a:rPr dirty="0" spc="-20"/>
              <a:t> </a:t>
            </a:r>
            <a:r>
              <a:rPr dirty="0"/>
              <a:t>file</a:t>
            </a:r>
            <a:r>
              <a:rPr dirty="0" spc="-15"/>
              <a:t> </a:t>
            </a:r>
            <a:r>
              <a:rPr dirty="0" spc="-45"/>
              <a:t>and</a:t>
            </a:r>
            <a:r>
              <a:rPr dirty="0" spc="-15"/>
              <a:t> </a:t>
            </a:r>
            <a:r>
              <a:rPr dirty="0" spc="-70"/>
              <a:t>database</a:t>
            </a:r>
            <a:r>
              <a:rPr dirty="0" spc="-5"/>
              <a:t> </a:t>
            </a:r>
            <a:r>
              <a:rPr dirty="0" spc="-40"/>
              <a:t>losing</a:t>
            </a:r>
            <a:r>
              <a:rPr dirty="0" spc="-15"/>
              <a:t> </a:t>
            </a:r>
            <a:r>
              <a:rPr dirty="0"/>
              <a:t>track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25"/>
              <a:t>it.</a:t>
            </a:r>
          </a:p>
          <a:p>
            <a:pPr marL="289560" marR="120014">
              <a:lnSpc>
                <a:spcPct val="102600"/>
              </a:lnSpc>
              <a:spcBef>
                <a:spcPts val="300"/>
              </a:spcBef>
            </a:pPr>
            <a:r>
              <a:rPr dirty="0"/>
              <a:t>the</a:t>
            </a:r>
            <a:r>
              <a:rPr dirty="0" spc="35"/>
              <a:t> </a:t>
            </a:r>
            <a:r>
              <a:rPr dirty="0"/>
              <a:t>pair</a:t>
            </a:r>
            <a:r>
              <a:rPr dirty="0" spc="55"/>
              <a:t> </a:t>
            </a:r>
            <a:r>
              <a:rPr dirty="0" spc="110">
                <a:latin typeface="Calibri"/>
                <a:cs typeface="Calibri"/>
              </a:rPr>
              <a:t>(current</a:t>
            </a:r>
            <a:r>
              <a:rPr dirty="0" spc="14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max</a:t>
            </a:r>
            <a:r>
              <a:rPr dirty="0" spc="145">
                <a:latin typeface="Calibri"/>
                <a:cs typeface="Calibri"/>
              </a:rPr>
              <a:t> </a:t>
            </a:r>
            <a:r>
              <a:rPr dirty="0" spc="125">
                <a:latin typeface="Calibri"/>
                <a:cs typeface="Calibri"/>
              </a:rPr>
              <a:t>id+1,</a:t>
            </a:r>
            <a:r>
              <a:rPr dirty="0" spc="30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dbs</a:t>
            </a:r>
            <a:r>
              <a:rPr dirty="0" i="1">
                <a:latin typeface="Sitka Small"/>
                <a:cs typeface="Sitka Small"/>
              </a:rPr>
              <a:t>\</a:t>
            </a:r>
            <a:r>
              <a:rPr dirty="0">
                <a:latin typeface="Calibri"/>
                <a:cs typeface="Calibri"/>
              </a:rPr>
              <a:t>db</a:t>
            </a:r>
            <a:r>
              <a:rPr dirty="0" spc="15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images</a:t>
            </a:r>
            <a:r>
              <a:rPr dirty="0" i="1">
                <a:latin typeface="Sitka Small"/>
                <a:cs typeface="Sitka Small"/>
              </a:rPr>
              <a:t>\</a:t>
            </a:r>
            <a:r>
              <a:rPr dirty="0">
                <a:latin typeface="Calibri"/>
                <a:cs typeface="Calibri"/>
              </a:rPr>
              <a:t>new</a:t>
            </a:r>
            <a:r>
              <a:rPr dirty="0" spc="145">
                <a:latin typeface="Calibri"/>
                <a:cs typeface="Calibri"/>
              </a:rPr>
              <a:t> </a:t>
            </a:r>
            <a:r>
              <a:rPr dirty="0" spc="225">
                <a:latin typeface="Calibri"/>
                <a:cs typeface="Calibri"/>
              </a:rPr>
              <a:t>file</a:t>
            </a:r>
            <a:r>
              <a:rPr dirty="0" spc="1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name)</a:t>
            </a:r>
            <a:r>
              <a:rPr dirty="0" spc="100">
                <a:latin typeface="Calibri"/>
                <a:cs typeface="Calibri"/>
              </a:rPr>
              <a:t> </a:t>
            </a:r>
            <a:r>
              <a:rPr dirty="0" spc="-25"/>
              <a:t>is </a:t>
            </a:r>
            <a:r>
              <a:rPr dirty="0" spc="-65"/>
              <a:t>added</a:t>
            </a:r>
            <a:r>
              <a:rPr dirty="0" spc="-5"/>
              <a:t> </a:t>
            </a:r>
            <a:r>
              <a:rPr dirty="0"/>
              <a:t>to the path </a:t>
            </a:r>
            <a:r>
              <a:rPr dirty="0" spc="-10"/>
              <a:t>index.</a:t>
            </a: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5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Database</a:t>
            </a:r>
            <a:r>
              <a:rPr dirty="0" spc="-55"/>
              <a:t> </a:t>
            </a:r>
            <a:r>
              <a:rPr dirty="0"/>
              <a:t>-</a:t>
            </a:r>
            <a:r>
              <a:rPr dirty="0" spc="-50"/>
              <a:t> </a:t>
            </a:r>
            <a:r>
              <a:rPr dirty="0"/>
              <a:t>One</a:t>
            </a:r>
            <a:r>
              <a:rPr dirty="0" spc="-55"/>
              <a:t> </a:t>
            </a:r>
            <a:r>
              <a:rPr dirty="0" spc="-40"/>
              <a:t>glaring</a:t>
            </a:r>
            <a:r>
              <a:rPr dirty="0" spc="-50"/>
              <a:t> </a:t>
            </a:r>
            <a:r>
              <a:rPr dirty="0" spc="-45"/>
              <a:t>issue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The</a:t>
            </a:r>
            <a:r>
              <a:rPr dirty="0" spc="-30"/>
              <a:t> </a:t>
            </a:r>
            <a:r>
              <a:rPr dirty="0" spc="-90"/>
              <a:t>speed</a:t>
            </a:r>
            <a:r>
              <a:rPr dirty="0" spc="15"/>
              <a:t> </a:t>
            </a:r>
            <a:r>
              <a:rPr dirty="0" spc="-45"/>
              <a:t>and</a:t>
            </a:r>
            <a:r>
              <a:rPr dirty="0"/>
              <a:t> </a:t>
            </a:r>
            <a:r>
              <a:rPr dirty="0" spc="-20"/>
              <a:t>reliability</a:t>
            </a:r>
            <a:r>
              <a:rPr dirty="0" spc="-5"/>
              <a:t> </a:t>
            </a:r>
            <a:r>
              <a:rPr dirty="0" spc="-45"/>
              <a:t>provided</a:t>
            </a:r>
            <a:r>
              <a:rPr dirty="0"/>
              <a:t> </a:t>
            </a:r>
            <a:r>
              <a:rPr dirty="0" spc="-10"/>
              <a:t>by</a:t>
            </a:r>
            <a:r>
              <a:rPr dirty="0"/>
              <a:t> </a:t>
            </a:r>
            <a:r>
              <a:rPr dirty="0" spc="-80"/>
              <a:t>FAISS</a:t>
            </a:r>
            <a:r>
              <a:rPr dirty="0" spc="5"/>
              <a:t> </a:t>
            </a:r>
            <a:r>
              <a:rPr dirty="0" spc="-75"/>
              <a:t>indexes</a:t>
            </a:r>
            <a:r>
              <a:rPr dirty="0"/>
              <a:t> </a:t>
            </a:r>
            <a:r>
              <a:rPr dirty="0" spc="-80"/>
              <a:t>comes</a:t>
            </a:r>
            <a:r>
              <a:rPr dirty="0" spc="5"/>
              <a:t> </a:t>
            </a:r>
            <a:r>
              <a:rPr dirty="0"/>
              <a:t>at a </a:t>
            </a:r>
            <a:r>
              <a:rPr dirty="0" spc="-10"/>
              <a:t>cost:</a:t>
            </a:r>
            <a:r>
              <a:rPr dirty="0" spc="95"/>
              <a:t> </a:t>
            </a:r>
            <a:r>
              <a:rPr dirty="0" spc="-25"/>
              <a:t>you cannot</a:t>
            </a:r>
            <a:r>
              <a:rPr dirty="0" spc="-40"/>
              <a:t> </a:t>
            </a:r>
            <a:r>
              <a:rPr dirty="0" spc="-25"/>
              <a:t>really</a:t>
            </a:r>
            <a:r>
              <a:rPr dirty="0" spc="-20"/>
              <a:t> </a:t>
            </a:r>
            <a:r>
              <a:rPr dirty="0" spc="-70"/>
              <a:t>remove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30"/>
              <a:t>vector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30"/>
              <a:t>index;</a:t>
            </a:r>
            <a:r>
              <a:rPr dirty="0" spc="-20"/>
              <a:t> </a:t>
            </a:r>
            <a:r>
              <a:rPr dirty="0" spc="-45"/>
              <a:t>you</a:t>
            </a:r>
            <a:r>
              <a:rPr dirty="0" spc="-20"/>
              <a:t> </a:t>
            </a:r>
            <a:r>
              <a:rPr dirty="0" spc="-45"/>
              <a:t>can</a:t>
            </a:r>
            <a:r>
              <a:rPr dirty="0" spc="-15"/>
              <a:t> </a:t>
            </a:r>
            <a:r>
              <a:rPr dirty="0" spc="-60"/>
              <a:t>mask</a:t>
            </a:r>
            <a:r>
              <a:rPr dirty="0" spc="-15"/>
              <a:t> </a:t>
            </a:r>
            <a:r>
              <a:rPr dirty="0" spc="-10"/>
              <a:t>them</a:t>
            </a:r>
            <a:r>
              <a:rPr dirty="0" spc="-20"/>
              <a:t> </a:t>
            </a:r>
            <a:r>
              <a:rPr dirty="0"/>
              <a:t>out,</a:t>
            </a:r>
            <a:r>
              <a:rPr dirty="0" spc="-20"/>
              <a:t> </a:t>
            </a:r>
            <a:r>
              <a:rPr dirty="0" spc="-25"/>
              <a:t>but </a:t>
            </a:r>
            <a:r>
              <a:rPr dirty="0"/>
              <a:t>this </a:t>
            </a:r>
            <a:r>
              <a:rPr dirty="0" spc="-30"/>
              <a:t>operation</a:t>
            </a:r>
            <a:r>
              <a:rPr dirty="0"/>
              <a:t> </a:t>
            </a:r>
            <a:r>
              <a:rPr dirty="0" spc="-20"/>
              <a:t>starts</a:t>
            </a:r>
            <a:r>
              <a:rPr dirty="0"/>
              <a:t> to </a:t>
            </a:r>
            <a:r>
              <a:rPr dirty="0" spc="-30"/>
              <a:t>be</a:t>
            </a:r>
            <a:r>
              <a:rPr dirty="0"/>
              <a:t> </a:t>
            </a:r>
            <a:r>
              <a:rPr dirty="0" spc="-20"/>
              <a:t>efficient</a:t>
            </a:r>
            <a:r>
              <a:rPr dirty="0"/>
              <a:t> </a:t>
            </a:r>
            <a:r>
              <a:rPr dirty="0" spc="-20"/>
              <a:t>only</a:t>
            </a:r>
            <a:r>
              <a:rPr dirty="0"/>
              <a:t> </a:t>
            </a:r>
            <a:r>
              <a:rPr dirty="0" spc="-60"/>
              <a:t>when</a:t>
            </a:r>
            <a:r>
              <a:rPr dirty="0"/>
              <a:t> </a:t>
            </a:r>
            <a:r>
              <a:rPr dirty="0" spc="-45"/>
              <a:t>you</a:t>
            </a:r>
            <a:r>
              <a:rPr dirty="0"/>
              <a:t> </a:t>
            </a:r>
            <a:r>
              <a:rPr dirty="0" spc="-60"/>
              <a:t>mask</a:t>
            </a:r>
            <a:r>
              <a:rPr dirty="0"/>
              <a:t> a lot of </a:t>
            </a:r>
            <a:r>
              <a:rPr dirty="0" spc="-10"/>
              <a:t>vectors.</a:t>
            </a:r>
          </a:p>
          <a:p>
            <a:pPr marL="12700" marR="5080">
              <a:lnSpc>
                <a:spcPct val="102600"/>
              </a:lnSpc>
            </a:pPr>
            <a:r>
              <a:rPr dirty="0" spc="-45"/>
              <a:t>Due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this</a:t>
            </a:r>
            <a:r>
              <a:rPr dirty="0" spc="-5"/>
              <a:t> </a:t>
            </a:r>
            <a:r>
              <a:rPr dirty="0"/>
              <a:t>limitation</a:t>
            </a:r>
            <a:r>
              <a:rPr dirty="0" spc="-10"/>
              <a:t> </a:t>
            </a:r>
            <a:r>
              <a:rPr dirty="0" spc="-45"/>
              <a:t>you</a:t>
            </a:r>
            <a:r>
              <a:rPr dirty="0" spc="-10"/>
              <a:t> </a:t>
            </a:r>
            <a:r>
              <a:rPr dirty="0"/>
              <a:t>can’t</a:t>
            </a:r>
            <a:r>
              <a:rPr dirty="0" spc="-10"/>
              <a:t> </a:t>
            </a:r>
            <a:r>
              <a:rPr dirty="0" spc="-70"/>
              <a:t>remove</a:t>
            </a:r>
            <a:r>
              <a:rPr dirty="0" spc="-5"/>
              <a:t> </a:t>
            </a:r>
            <a:r>
              <a:rPr dirty="0" spc="-20"/>
              <a:t>an</a:t>
            </a:r>
            <a:r>
              <a:rPr dirty="0" spc="-5"/>
              <a:t> </a:t>
            </a:r>
            <a:r>
              <a:rPr dirty="0" spc="-50"/>
              <a:t>image</a:t>
            </a:r>
            <a:r>
              <a:rPr dirty="0" spc="-10"/>
              <a:t> </a:t>
            </a:r>
            <a:r>
              <a:rPr dirty="0"/>
              <a:t>from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60"/>
              <a:t>database</a:t>
            </a:r>
            <a:r>
              <a:rPr dirty="0" spc="-10"/>
              <a:t> </a:t>
            </a:r>
            <a:r>
              <a:rPr dirty="0" spc="-20"/>
              <a:t>once </a:t>
            </a:r>
            <a:r>
              <a:rPr dirty="0"/>
              <a:t>it</a:t>
            </a:r>
            <a:r>
              <a:rPr dirty="0" spc="-5"/>
              <a:t> </a:t>
            </a:r>
            <a:r>
              <a:rPr dirty="0" spc="-85"/>
              <a:t>has</a:t>
            </a:r>
            <a:r>
              <a:rPr dirty="0" spc="10"/>
              <a:t> </a:t>
            </a:r>
            <a:r>
              <a:rPr dirty="0" spc="-70"/>
              <a:t>been</a:t>
            </a:r>
            <a:r>
              <a:rPr dirty="0" spc="5"/>
              <a:t> </a:t>
            </a:r>
            <a:r>
              <a:rPr dirty="0" spc="-40"/>
              <a:t>added.</a:t>
            </a:r>
            <a:r>
              <a:rPr dirty="0" spc="100"/>
              <a:t> </a:t>
            </a:r>
            <a:r>
              <a:rPr dirty="0" spc="-50"/>
              <a:t>One</a:t>
            </a:r>
            <a:r>
              <a:rPr dirty="0" spc="5"/>
              <a:t> </a:t>
            </a:r>
            <a:r>
              <a:rPr dirty="0" spc="-25"/>
              <a:t>solution</a:t>
            </a:r>
            <a:r>
              <a:rPr dirty="0" spc="5"/>
              <a:t> </a:t>
            </a:r>
            <a:r>
              <a:rPr dirty="0" spc="-30"/>
              <a:t>could</a:t>
            </a:r>
            <a:r>
              <a:rPr dirty="0" spc="5"/>
              <a:t> </a:t>
            </a:r>
            <a:r>
              <a:rPr dirty="0" spc="-30"/>
              <a:t>be</a:t>
            </a:r>
            <a:r>
              <a:rPr dirty="0"/>
              <a:t> </a:t>
            </a:r>
            <a:r>
              <a:rPr dirty="0" spc="-25"/>
              <a:t>storing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65"/>
              <a:t>removed</a:t>
            </a:r>
            <a:r>
              <a:rPr dirty="0" spc="5"/>
              <a:t> </a:t>
            </a:r>
            <a:r>
              <a:rPr dirty="0" spc="-80"/>
              <a:t>indexes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 spc="-50"/>
              <a:t>a </a:t>
            </a:r>
            <a:r>
              <a:rPr dirty="0" spc="-20"/>
              <a:t>different</a:t>
            </a:r>
            <a:r>
              <a:rPr dirty="0" spc="-10"/>
              <a:t> data</a:t>
            </a:r>
            <a:r>
              <a:rPr dirty="0" spc="-5"/>
              <a:t> </a:t>
            </a:r>
            <a:r>
              <a:rPr dirty="0" spc="-20"/>
              <a:t>structure</a:t>
            </a:r>
            <a:r>
              <a:rPr dirty="0" spc="-5"/>
              <a:t> </a:t>
            </a:r>
            <a:r>
              <a:rPr dirty="0" spc="-45"/>
              <a:t>and</a:t>
            </a:r>
            <a:r>
              <a:rPr dirty="0" spc="-5"/>
              <a:t> </a:t>
            </a:r>
            <a:r>
              <a:rPr dirty="0" spc="-60"/>
              <a:t>mask</a:t>
            </a:r>
            <a:r>
              <a:rPr dirty="0" spc="-5"/>
              <a:t> </a:t>
            </a:r>
            <a:r>
              <a:rPr dirty="0"/>
              <a:t>out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75"/>
              <a:t>indexes</a:t>
            </a:r>
            <a:r>
              <a:rPr dirty="0"/>
              <a:t> </a:t>
            </a:r>
            <a:r>
              <a:rPr dirty="0" spc="-65"/>
              <a:t>removed</a:t>
            </a:r>
            <a:r>
              <a:rPr dirty="0" spc="-5"/>
              <a:t> </a:t>
            </a:r>
            <a:r>
              <a:rPr dirty="0" spc="-60"/>
              <a:t>when</a:t>
            </a:r>
            <a:r>
              <a:rPr dirty="0" spc="-5"/>
              <a:t> </a:t>
            </a:r>
            <a:r>
              <a:rPr dirty="0" spc="-10"/>
              <a:t>they</a:t>
            </a:r>
            <a:r>
              <a:rPr dirty="0" spc="-5"/>
              <a:t> </a:t>
            </a:r>
            <a:r>
              <a:rPr dirty="0" spc="-25"/>
              <a:t>are </a:t>
            </a:r>
            <a:r>
              <a:rPr dirty="0" spc="-35"/>
              <a:t>retrieved</a:t>
            </a:r>
            <a:r>
              <a:rPr dirty="0"/>
              <a:t> from the </a:t>
            </a:r>
            <a:r>
              <a:rPr dirty="0" spc="-70"/>
              <a:t>search,</a:t>
            </a:r>
            <a:r>
              <a:rPr dirty="0"/>
              <a:t> but</a:t>
            </a:r>
            <a:r>
              <a:rPr dirty="0" spc="5"/>
              <a:t> </a:t>
            </a:r>
            <a:r>
              <a:rPr dirty="0"/>
              <a:t>this </a:t>
            </a:r>
            <a:r>
              <a:rPr dirty="0" spc="-35"/>
              <a:t>would</a:t>
            </a:r>
            <a:r>
              <a:rPr dirty="0"/>
              <a:t> </a:t>
            </a:r>
            <a:r>
              <a:rPr dirty="0" spc="-40"/>
              <a:t>require</a:t>
            </a:r>
            <a:r>
              <a:rPr dirty="0"/>
              <a:t> </a:t>
            </a:r>
            <a:r>
              <a:rPr dirty="0" spc="-20"/>
              <a:t>an</a:t>
            </a:r>
            <a:r>
              <a:rPr dirty="0" spc="5"/>
              <a:t> </a:t>
            </a:r>
            <a:r>
              <a:rPr dirty="0" spc="-20"/>
              <a:t>”overquerying”</a:t>
            </a:r>
            <a:r>
              <a:rPr dirty="0"/>
              <a:t> to </a:t>
            </a:r>
            <a:r>
              <a:rPr dirty="0" spc="-25"/>
              <a:t>be </a:t>
            </a:r>
            <a:r>
              <a:rPr dirty="0" spc="-70"/>
              <a:t>sure</a:t>
            </a:r>
            <a:r>
              <a:rPr dirty="0" spc="5"/>
              <a:t> </a:t>
            </a:r>
            <a:r>
              <a:rPr dirty="0"/>
              <a:t>that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60"/>
              <a:t>end</a:t>
            </a:r>
            <a:r>
              <a:rPr dirty="0" spc="5"/>
              <a:t> </a:t>
            </a:r>
            <a:r>
              <a:rPr dirty="0" spc="-70"/>
              <a:t>user</a:t>
            </a:r>
            <a:r>
              <a:rPr dirty="0" spc="5"/>
              <a:t> </a:t>
            </a:r>
            <a:r>
              <a:rPr dirty="0" spc="-80"/>
              <a:t>receives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/>
              <a:t>output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40"/>
              <a:t>number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 spc="-75"/>
              <a:t>images</a:t>
            </a:r>
            <a:r>
              <a:rPr dirty="0" spc="5"/>
              <a:t> </a:t>
            </a:r>
            <a:r>
              <a:rPr dirty="0" spc="-50"/>
              <a:t>specified</a:t>
            </a:r>
            <a:r>
              <a:rPr dirty="0" spc="5"/>
              <a:t> </a:t>
            </a:r>
            <a:r>
              <a:rPr dirty="0" spc="-25"/>
              <a:t>in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30"/>
              <a:t>settings,</a:t>
            </a:r>
            <a:r>
              <a:rPr dirty="0" spc="-15"/>
              <a:t> </a:t>
            </a:r>
            <a:r>
              <a:rPr dirty="0" spc="-45"/>
              <a:t>and</a:t>
            </a:r>
            <a:r>
              <a:rPr dirty="0" spc="-15"/>
              <a:t> </a:t>
            </a:r>
            <a:r>
              <a:rPr dirty="0"/>
              <a:t>this</a:t>
            </a:r>
            <a:r>
              <a:rPr dirty="0" spc="-10"/>
              <a:t> </a:t>
            </a:r>
            <a:r>
              <a:rPr dirty="0" spc="-30"/>
              <a:t>could</a:t>
            </a:r>
            <a:r>
              <a:rPr dirty="0" spc="-15"/>
              <a:t> </a:t>
            </a:r>
            <a:r>
              <a:rPr dirty="0" spc="-25"/>
              <a:t>greatly</a:t>
            </a:r>
            <a:r>
              <a:rPr dirty="0" spc="-15"/>
              <a:t> </a:t>
            </a:r>
            <a:r>
              <a:rPr dirty="0" spc="-10"/>
              <a:t>impact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60"/>
              <a:t>performances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25"/>
              <a:t>the </a:t>
            </a:r>
            <a:r>
              <a:rPr dirty="0" spc="-60"/>
              <a:t>database</a:t>
            </a:r>
            <a:r>
              <a:rPr dirty="0" spc="-5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25"/>
              <a:t>long</a:t>
            </a:r>
            <a:r>
              <a:rPr dirty="0" spc="-10"/>
              <a:t> </a:t>
            </a:r>
            <a:r>
              <a:rPr dirty="0"/>
              <a:t>run.</a:t>
            </a:r>
            <a:r>
              <a:rPr dirty="0" spc="95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55"/>
              <a:t>end</a:t>
            </a:r>
            <a:r>
              <a:rPr dirty="0" spc="-5"/>
              <a:t> </a:t>
            </a:r>
            <a:r>
              <a:rPr dirty="0"/>
              <a:t>I</a:t>
            </a:r>
            <a:r>
              <a:rPr dirty="0" spc="-5"/>
              <a:t> </a:t>
            </a:r>
            <a:r>
              <a:rPr dirty="0"/>
              <a:t>didn’t</a:t>
            </a:r>
            <a:r>
              <a:rPr dirty="0" spc="-5"/>
              <a:t> </a:t>
            </a:r>
            <a:r>
              <a:rPr dirty="0" spc="-35"/>
              <a:t>implement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30"/>
              <a:t>feature</a:t>
            </a:r>
            <a:r>
              <a:rPr dirty="0" spc="-5"/>
              <a:t> </a:t>
            </a:r>
            <a:r>
              <a:rPr dirty="0" spc="-25"/>
              <a:t>to</a:t>
            </a:r>
            <a:r>
              <a:rPr dirty="0" spc="500"/>
              <a:t> </a:t>
            </a:r>
            <a:r>
              <a:rPr dirty="0" spc="-70"/>
              <a:t>remove</a:t>
            </a:r>
            <a:r>
              <a:rPr dirty="0" spc="-5"/>
              <a:t> </a:t>
            </a:r>
            <a:r>
              <a:rPr dirty="0" spc="-75"/>
              <a:t>images</a:t>
            </a:r>
            <a:r>
              <a:rPr dirty="0"/>
              <a:t> from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55"/>
              <a:t>database,</a:t>
            </a:r>
            <a:r>
              <a:rPr dirty="0"/>
              <a:t> </a:t>
            </a:r>
            <a:r>
              <a:rPr dirty="0" spc="-105"/>
              <a:t>as</a:t>
            </a:r>
            <a:r>
              <a:rPr dirty="0" spc="30"/>
              <a:t> </a:t>
            </a:r>
            <a:r>
              <a:rPr dirty="0"/>
              <a:t>this </a:t>
            </a:r>
            <a:r>
              <a:rPr dirty="0" spc="-20"/>
              <a:t>project</a:t>
            </a:r>
            <a:r>
              <a:rPr dirty="0"/>
              <a:t> </a:t>
            </a:r>
            <a:r>
              <a:rPr dirty="0" spc="-105"/>
              <a:t>was</a:t>
            </a:r>
            <a:r>
              <a:rPr dirty="0" spc="30"/>
              <a:t> </a:t>
            </a:r>
            <a:r>
              <a:rPr dirty="0" spc="-55"/>
              <a:t>more</a:t>
            </a:r>
            <a:r>
              <a:rPr dirty="0"/>
              <a:t> </a:t>
            </a:r>
            <a:r>
              <a:rPr dirty="0" spc="-10"/>
              <a:t>focused </a:t>
            </a:r>
            <a:r>
              <a:rPr dirty="0" spc="-25"/>
              <a:t>feasibility</a:t>
            </a:r>
            <a:r>
              <a:rPr dirty="0"/>
              <a:t> of AI </a:t>
            </a:r>
            <a:r>
              <a:rPr dirty="0" spc="-50"/>
              <a:t>regarding</a:t>
            </a:r>
            <a:r>
              <a:rPr dirty="0"/>
              <a:t> the</a:t>
            </a:r>
            <a:r>
              <a:rPr dirty="0" spc="5"/>
              <a:t> </a:t>
            </a:r>
            <a:r>
              <a:rPr dirty="0" spc="-25"/>
              <a:t>retrieval</a:t>
            </a:r>
            <a:r>
              <a:rPr dirty="0"/>
              <a:t> of </a:t>
            </a:r>
            <a:r>
              <a:rPr dirty="0" spc="-65"/>
              <a:t>images,</a:t>
            </a:r>
            <a:r>
              <a:rPr dirty="0"/>
              <a:t> </a:t>
            </a:r>
            <a:r>
              <a:rPr dirty="0" spc="-10"/>
              <a:t>rather</a:t>
            </a:r>
            <a:r>
              <a:rPr dirty="0"/>
              <a:t> than</a:t>
            </a:r>
            <a:r>
              <a:rPr dirty="0" spc="5"/>
              <a:t> </a:t>
            </a:r>
            <a:r>
              <a:rPr dirty="0" spc="-25"/>
              <a:t>the </a:t>
            </a:r>
            <a:r>
              <a:rPr dirty="0" spc="-60"/>
              <a:t>management</a:t>
            </a:r>
            <a:r>
              <a:rPr dirty="0" spc="20"/>
              <a:t> </a:t>
            </a:r>
            <a:r>
              <a:rPr dirty="0" spc="-55"/>
              <a:t>aspect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25"/>
              <a:t>it.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2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8756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2B864B"/>
                </a:solidFill>
                <a:latin typeface="Tahoma"/>
                <a:cs typeface="Tahoma"/>
              </a:rPr>
              <a:t>Thank</a:t>
            </a:r>
            <a:r>
              <a:rPr dirty="0" sz="1400" spc="-50">
                <a:solidFill>
                  <a:srgbClr val="2B864B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2B864B"/>
                </a:solidFill>
                <a:latin typeface="Tahoma"/>
                <a:cs typeface="Tahoma"/>
              </a:rPr>
              <a:t>you!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9581" y="684833"/>
            <a:ext cx="2569210" cy="78295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450" spc="-35">
                <a:solidFill>
                  <a:srgbClr val="000000"/>
                </a:solidFill>
              </a:rPr>
              <a:t>And</a:t>
            </a:r>
            <a:r>
              <a:rPr dirty="0" sz="2450" spc="-135">
                <a:solidFill>
                  <a:srgbClr val="000000"/>
                </a:solidFill>
              </a:rPr>
              <a:t> </a:t>
            </a:r>
            <a:r>
              <a:rPr dirty="0" sz="2450" spc="-45">
                <a:solidFill>
                  <a:srgbClr val="000000"/>
                </a:solidFill>
              </a:rPr>
              <a:t>that’s</a:t>
            </a:r>
            <a:r>
              <a:rPr dirty="0" sz="2450" spc="-135">
                <a:solidFill>
                  <a:srgbClr val="000000"/>
                </a:solidFill>
              </a:rPr>
              <a:t> </a:t>
            </a:r>
            <a:r>
              <a:rPr dirty="0" sz="2450" spc="-25">
                <a:solidFill>
                  <a:srgbClr val="000000"/>
                </a:solidFill>
              </a:rPr>
              <a:t>it!</a:t>
            </a:r>
            <a:endParaRPr sz="2450"/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2450" spc="-105">
                <a:solidFill>
                  <a:srgbClr val="000000"/>
                </a:solidFill>
              </a:rPr>
              <a:t>Thanks</a:t>
            </a:r>
            <a:r>
              <a:rPr dirty="0" sz="2450" spc="-80">
                <a:solidFill>
                  <a:srgbClr val="000000"/>
                </a:solidFill>
              </a:rPr>
              <a:t> </a:t>
            </a:r>
            <a:r>
              <a:rPr dirty="0" sz="2450" spc="-100">
                <a:solidFill>
                  <a:srgbClr val="000000"/>
                </a:solidFill>
              </a:rPr>
              <a:t>for</a:t>
            </a:r>
            <a:r>
              <a:rPr dirty="0" sz="2450" spc="-70">
                <a:solidFill>
                  <a:srgbClr val="000000"/>
                </a:solidFill>
              </a:rPr>
              <a:t> </a:t>
            </a:r>
            <a:r>
              <a:rPr dirty="0" sz="2450" spc="-85">
                <a:solidFill>
                  <a:srgbClr val="000000"/>
                </a:solidFill>
              </a:rPr>
              <a:t>listening!</a:t>
            </a:r>
            <a:endParaRPr sz="245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803" y="1579689"/>
            <a:ext cx="1040384" cy="104038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26B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Eugenio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0"/>
              <a:t> </a:t>
            </a:r>
            <a:r>
              <a:rPr dirty="0"/>
              <a:t>Luca</a:t>
            </a:r>
            <a:r>
              <a:rPr dirty="0" spc="195"/>
              <a:t> </a:t>
            </a:r>
            <a:r>
              <a:rPr dirty="0"/>
              <a:t>(University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10"/>
              <a:t>Bologna)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929168" y="3351784"/>
            <a:ext cx="74993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University</a:t>
            </a:r>
            <a:r>
              <a:rPr dirty="0" sz="600" spc="2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of</a:t>
            </a:r>
            <a:r>
              <a:rPr dirty="0" sz="600" spc="25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1E5D34"/>
                </a:solidFill>
                <a:latin typeface="Arial MT"/>
                <a:cs typeface="Arial MT"/>
                <a:hlinkClick r:id="rId3" action="ppaction://hlinksldjump"/>
              </a:rPr>
              <a:t>Bologna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dirty="0" spc="15"/>
              <a:t> </a:t>
            </a:r>
            <a:r>
              <a:rPr dirty="0"/>
              <a:t>23,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22</a:t>
            </a:fld>
            <a:r>
              <a:rPr dirty="0" spc="-55"/>
              <a:t> </a:t>
            </a:r>
            <a:r>
              <a:rPr dirty="0" spc="150"/>
              <a:t>/</a:t>
            </a:r>
            <a:r>
              <a:rPr dirty="0" spc="-55"/>
              <a:t> </a:t>
            </a:r>
            <a:r>
              <a:rPr dirty="0" spc="-35"/>
              <a:t>37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2025-03-09T11:19:49Z</dcterms:created>
  <dcterms:modified xsi:type="dcterms:W3CDTF">2025-03-09T11:19:49Z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2025-03-09T00:00:00Z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